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297680"/>
            <a:ext cx="3291840" cy="3291840"/>
          </a:xfrm>
          <a:prstGeom prst="ellipse">
            <a:avLst/>
          </a:prstGeom>
          <a:solidFill>
            <a:srgbClr val="4355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F647E"/>
          </a:solidFill>
          <a:ln/>
        </p:spPr>
      </p:sp>
      <p:pic>
        <p:nvPicPr>
          <p:cNvPr id="4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737360" cy="6583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66928" y="18745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548640" y="2286000"/>
            <a:ext cx="107899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</a:t>
            </a:r>
            <a:endParaRPr lang="en-US" sz="4600" dirty="0"/>
          </a:p>
        </p:txBody>
      </p:sp>
      <p:sp>
        <p:nvSpPr>
          <p:cNvPr id="7" name="Shape 4"/>
          <p:cNvSpPr/>
          <p:nvPr/>
        </p:nvSpPr>
        <p:spPr>
          <a:xfrm>
            <a:off x="594360" y="3703320"/>
            <a:ext cx="3108960" cy="6400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8" name="Text 5"/>
          <p:cNvSpPr/>
          <p:nvPr/>
        </p:nvSpPr>
        <p:spPr>
          <a:xfrm>
            <a:off x="548640" y="38404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3 · Módulo 2 — Unidad 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48640" y="4434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 al aprendizaje profundo</a:t>
            </a:r>
            <a:endParaRPr lang="en-US" sz="1600" dirty="0"/>
          </a:p>
        </p:txBody>
      </p:sp>
      <p:pic>
        <p:nvPicPr>
          <p:cNvPr id="10" name="Image 1" descr="logo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CLASE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Bienvenida: empezamos el Módulo 2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691640"/>
            <a:ext cx="667512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Cerramos el Módulo 1 (fundamentos y preparación de datos).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entramos en el aprendizaje profundo: las redes de neuronas.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Veremos de dónde vienen, cómo están hechas y cómo aprenden.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955280" y="1691640"/>
            <a:ext cx="347472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0" name="Text 7"/>
          <p:cNvSpPr/>
          <p:nvPr/>
        </p:nvSpPr>
        <p:spPr>
          <a:xfrm>
            <a:off x="8183880" y="1920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Hoy veremos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8183880" y="24688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 Introducción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 Redes de neuronas</a:t>
            </a:r>
            <a:endParaRPr lang="en-US" sz="15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neurona · perceptrón · MLP</a:t>
            </a:r>
            <a:endParaRPr lang="en-US" sz="1500" dirty="0"/>
          </a:p>
          <a:p>
            <a:pPr indent="0" marL="0">
              <a:buNone/>
            </a:pPr>
            <a:r>
              <a:rPr lang="en-US" sz="1300" i="1" dirty="0">
                <a:solidFill>
                  <a:srgbClr val="FF9BA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activación · backpropagation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Introducción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Del clasificador tradicional a las redes de neuronas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1.1 INTRODUCCIÓN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Clasificar: reconocer por características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Clasificar es asignar una etiqueta analizando las características de cada ejemplo (p. ej. la raza de un perro).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Existen muchos algoritmos clásicos de clasificación: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10896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4F6FF"/>
          </a:solidFill>
          <a:ln w="19050">
            <a:solidFill>
              <a:srgbClr val="FF647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5156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Árboles de decisión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0" y="310896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4F6FF"/>
          </a:solidFill>
          <a:ln w="1905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583680" y="310896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Naïve Bayes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411480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4F6FF"/>
          </a:solidFill>
          <a:ln w="19050">
            <a:solidFill>
              <a:srgbClr val="67E3D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156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Análisis discriminante lineal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00800" y="4114800"/>
            <a:ext cx="5257800" cy="822960"/>
          </a:xfrm>
          <a:prstGeom prst="roundRect">
            <a:avLst>
              <a:gd name="adj" fmla="val 6667"/>
            </a:avLst>
          </a:prstGeom>
          <a:solidFill>
            <a:srgbClr val="F4F6FF"/>
          </a:solidFill>
          <a:ln w="1905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411480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KNN (K-Nearest Neighbor)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68680" y="525780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vez más sustituidos por las redes de neuronas profundas, que imitan el cerebro humano.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F9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5544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❯❯❯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2103120"/>
            <a:ext cx="5486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822960" y="388620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Redes de neuronas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41248" y="512064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 la neurona biológica al perceptrón multicapa</a:t>
            </a:r>
            <a:endParaRPr lang="en-US" sz="1800" dirty="0"/>
          </a:p>
        </p:txBody>
      </p:sp>
      <p:pic>
        <p:nvPicPr>
          <p:cNvPr id="7" name="Image 0" descr="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9DD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Inspiración: la neurona biológica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5836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Ramón y Cajal (1888): el cerebro es una red de ~100.000 millones de neuronas interconectadas.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Dendritas: reciben impulsos de otras neuronas.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Soma: cuerpo celular que procesa la señal.</a:t>
            </a:r>
            <a:endParaRPr lang="en-US" sz="1500" dirty="0"/>
          </a:p>
          <a:p>
            <a:pPr lvl="1" marL="406400" indent="-203200">
              <a:spcAft>
                <a:spcPts val="800"/>
              </a:spcAft>
              <a:buSzPct val="100000"/>
              <a:buChar char="–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Axón: transmite el impulso a otras neuronas.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Elementos sencillos que, conectados, realizan cálculos muy complejos.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2286000"/>
            <a:ext cx="73152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3108960"/>
            <a:ext cx="73152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3931920"/>
            <a:ext cx="731520" cy="0"/>
          </a:xfrm>
          <a:prstGeom prst="line">
            <a:avLst/>
          </a:prstGeom>
          <a:noFill/>
          <a:ln w="25400">
            <a:solidFill>
              <a:srgbClr val="5B6079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8503920" y="2697480"/>
            <a:ext cx="1005840" cy="100584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503920" y="292608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soma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9509760" y="3200400"/>
            <a:ext cx="1737360" cy="0"/>
          </a:xfrm>
          <a:prstGeom prst="line">
            <a:avLst/>
          </a:prstGeom>
          <a:noFill/>
          <a:ln w="38100">
            <a:solidFill>
              <a:srgbClr val="FF647E"/>
            </a:solidFill>
            <a:prstDash val="solid"/>
            <a:tailEnd type="triangle"/>
          </a:ln>
        </p:spPr>
      </p:sp>
      <p:sp>
        <p:nvSpPr>
          <p:cNvPr id="15" name="Text 12"/>
          <p:cNvSpPr/>
          <p:nvPr/>
        </p:nvSpPr>
        <p:spPr>
          <a:xfrm>
            <a:off x="6949440" y="29718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dendritas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9966960" y="32918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axón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primer modelo: McCulloch-Pitts (1943)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capas: las entradas se combinan, se aplica una operación y una función de activación por umbral.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88720" y="2468880"/>
            <a:ext cx="640080" cy="64008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88720" y="3657600"/>
            <a:ext cx="640080" cy="64008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88720" y="2468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x₁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88720" y="3657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x₂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1828800" y="2788920"/>
            <a:ext cx="2194560" cy="45720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828800" y="3977640"/>
            <a:ext cx="2194560" cy="-45720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23360" y="274320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069080" y="27432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Σ + umbral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6400800" y="3218688"/>
            <a:ext cx="1188720" cy="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589520" y="2880360"/>
            <a:ext cx="731520" cy="731520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543800" y="29260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 / 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8680" y="493776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 la suma supera el umbral ⇒ salida 1; si no ⇒ 0.  Regla de Hebb (1949): ajusta los pesos según el error.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perceptrón simple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7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4922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Usa unidades de umbral lineal (LTU); entradas y salidas numéricas (no solo binarias).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entrada tiene un peso w que indica su importancia.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= función escalón de la suma ponderada: f(Σ wᵢ·xᵢ).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Entrenamiento: regla de Hebb + error → se ajustan los pesos que contribuyen al fallo.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0" y="2194560"/>
            <a:ext cx="548640" cy="54864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0" y="3108960"/>
            <a:ext cx="548640" cy="54864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772400" y="4023360"/>
            <a:ext cx="548640" cy="54864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21031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w₁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321040" y="2468880"/>
            <a:ext cx="1828800" cy="91440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5820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w₂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8321040" y="3383280"/>
            <a:ext cx="1828800" cy="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58200" y="39319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w₃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321040" y="4297680"/>
            <a:ext cx="1828800" cy="-914400"/>
          </a:xfrm>
          <a:prstGeom prst="line">
            <a:avLst/>
          </a:prstGeom>
          <a:noFill/>
          <a:ln w="19050">
            <a:solidFill>
              <a:srgbClr val="5B607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0149840" y="3063240"/>
            <a:ext cx="777240" cy="777240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04120" y="3108960"/>
            <a:ext cx="868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f(Σ)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gran limitación: el problema XOR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8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783080"/>
            <a:ext cx="61264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perceptrón solo separa con una línea recta (frontera lineal).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Solo funciona si las clases son linealmente separables.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 puede resolver el XOR (Minsky, 1969) ⇒ declive de la investigación.</a:t>
            </a:r>
            <a:endParaRPr lang="en-US" sz="15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5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Solución: combinar perceptrones ⇒ perceptrón multicapa (MLP).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2011680"/>
            <a:ext cx="20116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589520" y="2377440"/>
            <a:ext cx="164592" cy="164592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7863840" y="2651760"/>
            <a:ext cx="164592" cy="164592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680960" y="2926080"/>
            <a:ext cx="164592" cy="164592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8686800" y="3291840"/>
            <a:ext cx="164592" cy="164592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869680" y="3566160"/>
            <a:ext cx="164592" cy="164592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503920" y="3657600"/>
            <a:ext cx="164592" cy="164592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406640" y="3931920"/>
            <a:ext cx="1828800" cy="-1828800"/>
          </a:xfrm>
          <a:prstGeom prst="line">
            <a:avLst/>
          </a:prstGeom>
          <a:noFill/>
          <a:ln w="25400">
            <a:solidFill>
              <a:srgbClr val="000F9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31520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A38C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lineal ✓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9509760" y="2011680"/>
            <a:ext cx="2011680" cy="20116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784080" y="2286000"/>
            <a:ext cx="164592" cy="164592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1064240" y="3566160"/>
            <a:ext cx="164592" cy="164592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1064240" y="2286000"/>
            <a:ext cx="164592" cy="164592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9784080" y="3566160"/>
            <a:ext cx="164592" cy="164592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509760" y="4069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XOR ✗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perceptrón multicapa (MLP)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9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Varias capas de neuronas LTU que propagan la información hacia delante; resuelve problemas no lineales.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2514600" y="2994660"/>
            <a:ext cx="2057400" cy="-36576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514600" y="2994660"/>
            <a:ext cx="2057400" cy="64008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514600" y="2994660"/>
            <a:ext cx="2057400" cy="164592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514600" y="4274820"/>
            <a:ext cx="2057400" cy="-164592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4600" y="4274820"/>
            <a:ext cx="2057400" cy="-64008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514600" y="4274820"/>
            <a:ext cx="2057400" cy="36576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74920" y="2628900"/>
            <a:ext cx="2057400" cy="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074920" y="2628900"/>
            <a:ext cx="2057400" cy="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074920" y="2628900"/>
            <a:ext cx="2057400" cy="201168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074920" y="3634740"/>
            <a:ext cx="2057400" cy="-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074920" y="3634740"/>
            <a:ext cx="2057400" cy="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074920" y="3634740"/>
            <a:ext cx="2057400" cy="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074920" y="4640580"/>
            <a:ext cx="2057400" cy="-201168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074920" y="4640580"/>
            <a:ext cx="2057400" cy="-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74920" y="4640580"/>
            <a:ext cx="2057400" cy="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635240" y="2628900"/>
            <a:ext cx="2057400" cy="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635240" y="3634740"/>
            <a:ext cx="2057400" cy="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7635240" y="4640580"/>
            <a:ext cx="2057400" cy="-1005840"/>
          </a:xfrm>
          <a:prstGeom prst="line">
            <a:avLst/>
          </a:prstGeom>
          <a:noFill/>
          <a:ln w="9525">
            <a:solidFill>
              <a:srgbClr val="D9DDF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11680" y="2743200"/>
            <a:ext cx="502920" cy="50292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2011680" y="4023360"/>
            <a:ext cx="502920" cy="502920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173736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Entrada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0" y="237744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572000" y="338328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572000" y="438912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29768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Oculta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132320" y="237744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132320" y="338328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132320" y="4389120"/>
            <a:ext cx="502920" cy="502920"/>
          </a:xfrm>
          <a:prstGeom prst="ellipse">
            <a:avLst/>
          </a:prstGeom>
          <a:solidFill>
            <a:srgbClr val="000F9F"/>
          </a:solidFill>
          <a:ln w="12700">
            <a:solidFill>
              <a:srgbClr val="000F9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85800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Oculta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9692640" y="3383280"/>
            <a:ext cx="502920" cy="502920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9418320" y="50749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</a:t>
            </a:r>
            <a:endParaRPr lang="en-US" sz="1100" dirty="0"/>
          </a:p>
        </p:txBody>
      </p:sp>
      <p:sp>
        <p:nvSpPr>
          <p:cNvPr id="40" name="Text 37"/>
          <p:cNvSpPr/>
          <p:nvPr/>
        </p:nvSpPr>
        <p:spPr>
          <a:xfrm>
            <a:off x="868680" y="566928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Backpropagation (1986) permite ajustar los pesos de todas las capas.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Estructura de la red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10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783080"/>
            <a:ext cx="521208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78308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196596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Feedforward (hacia delante)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04872"/>
            <a:ext cx="480974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Sin bucles en el grafo. La información fluye de la entrada a la salida. Es el tipo más común.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783080"/>
            <a:ext cx="5120640" cy="182880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78308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196596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Recurrente (feedback)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404872"/>
            <a:ext cx="4718304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Tiene bucles de retroalimentación. Útil para secuencias (lo veremos en el Módulo 4).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68680" y="3840480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capa (salvo la de entrada) tiene tres elementos: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868680" y="429768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68680" y="4297680"/>
            <a:ext cx="338328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9" name="Text 16"/>
          <p:cNvSpPr/>
          <p:nvPr/>
        </p:nvSpPr>
        <p:spPr>
          <a:xfrm>
            <a:off x="1069848" y="4480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Capa de operación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1069848" y="491947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Aplica una operación matemática sobre las entradas.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434840" y="429768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34840" y="4297680"/>
            <a:ext cx="3383280" cy="109728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23" name="Text 20"/>
          <p:cNvSpPr/>
          <p:nvPr/>
        </p:nvSpPr>
        <p:spPr>
          <a:xfrm>
            <a:off x="4636008" y="4480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Bias (sesgo)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4636008" y="491947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Constante que se suma; da flexibilidad (como la b de y=mx+b).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8001000" y="4297680"/>
            <a:ext cx="3383280" cy="1554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001000" y="4297680"/>
            <a:ext cx="338328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27" name="Text 24"/>
          <p:cNvSpPr/>
          <p:nvPr/>
        </p:nvSpPr>
        <p:spPr>
          <a:xfrm>
            <a:off x="8202168" y="4480560"/>
            <a:ext cx="2980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Función de activación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8202168" y="4919472"/>
            <a:ext cx="298094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Transforma el resultado de la operación.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Dos capas habituales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11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920240"/>
            <a:ext cx="521208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920240"/>
            <a:ext cx="521208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103120"/>
            <a:ext cx="48097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Completamente conectada (Fully Connected)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542032"/>
            <a:ext cx="480974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neurona se conecta con todas las de la capa siguiente.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más usada, pero costosa: 64 × 128 neuronas = 8.192 conexiones.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Se usa como capa de entrada u oculta.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263640" y="1920240"/>
            <a:ext cx="5120640" cy="329184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63640" y="1920240"/>
            <a:ext cx="512064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14" name="Text 11"/>
          <p:cNvSpPr/>
          <p:nvPr/>
        </p:nvSpPr>
        <p:spPr>
          <a:xfrm>
            <a:off x="6464808" y="2103120"/>
            <a:ext cx="47183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Desactivación (Dropout)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464808" y="2542032"/>
            <a:ext cx="4718304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Desactiva neuronas al azar durante el entrenamiento para evitar el sobreajuste (overfitting).</a:t>
            </a: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endParaRPr lang="en-US" sz="12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Hiperparámetro dropout rate (0–1); valores típicos: 0,5 a 0,8.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activación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12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0876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Transforman la salida de cada capa. Deben ser no lineales para que la red aprenda relaciones complejas.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68680" y="2194560"/>
            <a:ext cx="3200400" cy="25603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97280" y="3474720"/>
            <a:ext cx="2743200" cy="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468880" y="2377440"/>
            <a:ext cx="0" cy="219456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143000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275588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408176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540764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673352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805940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938528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071116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203704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336292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468880" y="347472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601468" y="3355848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2734056" y="3236976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866644" y="3118104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999232" y="2999232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31820" y="288036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264408" y="2761488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396996" y="2642616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3529584" y="2523744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662172" y="2404872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794760" y="2286000"/>
            <a:ext cx="54864" cy="54864"/>
          </a:xfrm>
          <a:prstGeom prst="ellipse">
            <a:avLst/>
          </a:prstGeom>
          <a:solidFill>
            <a:srgbClr val="FF647E"/>
          </a:solidFill>
          <a:ln w="12700">
            <a:solidFill>
              <a:srgbClr val="FF647E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480560" y="2194560"/>
            <a:ext cx="3200400" cy="25603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709160" y="3474720"/>
            <a:ext cx="2743200" cy="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080760" y="2377440"/>
            <a:ext cx="0" cy="219456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48056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Sigmoide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4754880" y="3971321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65370" y="3957428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975860" y="3940122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86350" y="3918735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196840" y="3892561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307330" y="3860911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417820" y="3823188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28310" y="3778996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638800" y="3728256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49290" y="3671329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859780" y="3609092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70270" y="3542945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080760" y="3474720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91250" y="3406495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6301740" y="3340348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6412230" y="3278111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522720" y="3221184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6633210" y="3170444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6743700" y="3126252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6854190" y="3088529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6964680" y="3056879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7075170" y="3030705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7185660" y="3009318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296150" y="2992012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7406640" y="2978119"/>
            <a:ext cx="54864" cy="54864"/>
          </a:xfrm>
          <a:prstGeom prst="ellipse">
            <a:avLst/>
          </a:prstGeom>
          <a:solidFill>
            <a:srgbClr val="4355FF"/>
          </a:solidFill>
          <a:ln w="12700">
            <a:solidFill>
              <a:srgbClr val="4355FF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8092440" y="2194560"/>
            <a:ext cx="3200400" cy="25603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8321040" y="3474720"/>
            <a:ext cx="2743200" cy="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9692640" y="2377440"/>
            <a:ext cx="0" cy="2194560"/>
          </a:xfrm>
          <a:prstGeom prst="line">
            <a:avLst/>
          </a:prstGeom>
          <a:noFill/>
          <a:ln w="12700">
            <a:solidFill>
              <a:srgbClr val="5B6079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8092440" y="4572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Tanh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8366760" y="4384598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8477250" y="4381677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8587740" y="437688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8698230" y="4369027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8808720" y="4356227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8919210" y="4335514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9029700" y="4302388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9140190" y="4250391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9250680" y="4171122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9361170" y="405550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9471660" y="389728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9582150" y="3698674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9692640" y="347472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9803130" y="3250766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9913620" y="305216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10024110" y="289394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10134600" y="2778318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10245090" y="2699049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10355580" y="2647052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10466070" y="2613926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10576560" y="2593213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10687050" y="2580413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10797540" y="2572560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10908030" y="2567763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11018520" y="2564842"/>
            <a:ext cx="54864" cy="54864"/>
          </a:xfrm>
          <a:prstGeom prst="ellipse">
            <a:avLst/>
          </a:prstGeom>
          <a:solidFill>
            <a:srgbClr val="00A38C"/>
          </a:solidFill>
          <a:ln w="12700">
            <a:solidFill>
              <a:srgbClr val="00A38C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86868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Rango ≥ 0</a:t>
            </a:r>
            <a:endParaRPr lang="en-US" sz="1100" dirty="0"/>
          </a:p>
        </p:txBody>
      </p:sp>
      <p:sp>
        <p:nvSpPr>
          <p:cNvPr id="93" name="Text 90"/>
          <p:cNvSpPr/>
          <p:nvPr/>
        </p:nvSpPr>
        <p:spPr>
          <a:xfrm>
            <a:off x="448056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Rango 0 a 1</a:t>
            </a:r>
            <a:endParaRPr lang="en-US" sz="1100" dirty="0"/>
          </a:p>
        </p:txBody>
      </p:sp>
      <p:sp>
        <p:nvSpPr>
          <p:cNvPr id="94" name="Text 91"/>
          <p:cNvSpPr/>
          <p:nvPr/>
        </p:nvSpPr>
        <p:spPr>
          <a:xfrm>
            <a:off x="8092440" y="48646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Rango -1 a 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Funciones de activación: comparativa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3337560" cy="109728"/>
          </a:xfrm>
          <a:prstGeom prst="rect">
            <a:avLst/>
          </a:prstGeom>
          <a:solidFill>
            <a:srgbClr val="5B6079"/>
          </a:solidFill>
          <a:ln/>
        </p:spPr>
      </p:sp>
      <p:sp>
        <p:nvSpPr>
          <p:cNvPr id="10" name="Text 7"/>
          <p:cNvSpPr/>
          <p:nvPr/>
        </p:nvSpPr>
        <p:spPr>
          <a:xfrm>
            <a:off x="1069848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Lineal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069848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proporcional a la entrada. Derivada constante: el gradiente no depende de la entrada.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407408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07408" y="1828800"/>
            <a:ext cx="3337560" cy="1097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4" name="Text 11"/>
          <p:cNvSpPr/>
          <p:nvPr/>
        </p:nvSpPr>
        <p:spPr>
          <a:xfrm>
            <a:off x="4608576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ReLU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08576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más usada en capas ocultas. Coste bajo, evita el desvanecimiento del gradiente. Riesgo: dying ReLU.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946136" y="18288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46136" y="1828800"/>
            <a:ext cx="3337560" cy="109728"/>
          </a:xfrm>
          <a:prstGeom prst="rect">
            <a:avLst/>
          </a:prstGeom>
          <a:solidFill>
            <a:srgbClr val="FF9BAC"/>
          </a:solidFill>
          <a:ln/>
        </p:spPr>
      </p:sp>
      <p:sp>
        <p:nvSpPr>
          <p:cNvPr id="18" name="Text 15"/>
          <p:cNvSpPr/>
          <p:nvPr/>
        </p:nvSpPr>
        <p:spPr>
          <a:xfrm>
            <a:off x="8147304" y="20116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Leaky ReLU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147304" y="24505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Variante de ReLU con pequeños valores negativos; mitiga el problema dying ReLU.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868680" y="38862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68680" y="3886200"/>
            <a:ext cx="3337560" cy="109728"/>
          </a:xfrm>
          <a:prstGeom prst="rect">
            <a:avLst/>
          </a:prstGeom>
          <a:solidFill>
            <a:srgbClr val="4355FF"/>
          </a:solidFill>
          <a:ln/>
        </p:spPr>
      </p:sp>
      <p:sp>
        <p:nvSpPr>
          <p:cNvPr id="22" name="Text 19"/>
          <p:cNvSpPr/>
          <p:nvPr/>
        </p:nvSpPr>
        <p:spPr>
          <a:xfrm>
            <a:off x="1069848" y="4069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Sigmoide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1069848" y="45079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entre 0 y 1. Muy buena para clasificación; puede desvanecer el gradiente.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407408" y="38862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407408" y="3886200"/>
            <a:ext cx="3337560" cy="109728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26" name="Text 23"/>
          <p:cNvSpPr/>
          <p:nvPr/>
        </p:nvSpPr>
        <p:spPr>
          <a:xfrm>
            <a:off x="4608576" y="4069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Tanh</a:t>
            </a:r>
            <a:endParaRPr lang="en-US" sz="1500" dirty="0"/>
          </a:p>
        </p:txBody>
      </p:sp>
      <p:sp>
        <p:nvSpPr>
          <p:cNvPr id="27" name="Text 24"/>
          <p:cNvSpPr/>
          <p:nvPr/>
        </p:nvSpPr>
        <p:spPr>
          <a:xfrm>
            <a:off x="4608576" y="45079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Salida entre -1 y 1. Similar a la sigmoide, suele dar mejores resultados.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946136" y="3886200"/>
            <a:ext cx="3337560" cy="187452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946136" y="3886200"/>
            <a:ext cx="3337560" cy="109728"/>
          </a:xfrm>
          <a:prstGeom prst="rect">
            <a:avLst/>
          </a:prstGeom>
          <a:solidFill>
            <a:srgbClr val="00A38C"/>
          </a:solidFill>
          <a:ln/>
        </p:spPr>
      </p:sp>
      <p:sp>
        <p:nvSpPr>
          <p:cNvPr id="30" name="Text 27"/>
          <p:cNvSpPr/>
          <p:nvPr/>
        </p:nvSpPr>
        <p:spPr>
          <a:xfrm>
            <a:off x="8147304" y="4069080"/>
            <a:ext cx="29352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Softmax</a:t>
            </a:r>
            <a:endParaRPr lang="en-US" sz="1500" dirty="0"/>
          </a:p>
        </p:txBody>
      </p:sp>
      <p:sp>
        <p:nvSpPr>
          <p:cNvPr id="31" name="Text 28"/>
          <p:cNvSpPr/>
          <p:nvPr/>
        </p:nvSpPr>
        <p:spPr>
          <a:xfrm>
            <a:off x="8147304" y="4507992"/>
            <a:ext cx="2935224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Convierte un vector en probabilidades que suman 1. Ideal para la capa de salida multiclase.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1.2 REDES DE NEURONAS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¿Cómo aprende? Backpropagation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14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5544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Algoritmo (1986) que actualiza los pesos de la red en cuatro etapas: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68680" y="224028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24028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783080" y="22402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Propagación hacia delante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6035040" y="2240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Calcular la salida de cada neurona (inferencia).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1207008" y="292608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3200400"/>
            <a:ext cx="685800" cy="685800"/>
          </a:xfrm>
          <a:prstGeom prst="ellipse">
            <a:avLst/>
          </a:prstGeom>
          <a:solidFill>
            <a:srgbClr val="FF647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200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783080" y="320040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Cálculo del error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035040" y="3200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Comparar la salida obtenida con la esperada.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1207008" y="388620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68680" y="416052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0" name="Text 17"/>
          <p:cNvSpPr/>
          <p:nvPr/>
        </p:nvSpPr>
        <p:spPr>
          <a:xfrm>
            <a:off x="868680" y="4160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178308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Propagación hacia atrás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6035040" y="416052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Calcular la contribución de cada peso al error, capa a capa.</a:t>
            </a:r>
            <a:endParaRPr lang="en-US" sz="1350" dirty="0"/>
          </a:p>
        </p:txBody>
      </p:sp>
      <p:sp>
        <p:nvSpPr>
          <p:cNvPr id="23" name="Shape 20"/>
          <p:cNvSpPr/>
          <p:nvPr/>
        </p:nvSpPr>
        <p:spPr>
          <a:xfrm>
            <a:off x="1207008" y="4846320"/>
            <a:ext cx="0" cy="274320"/>
          </a:xfrm>
          <a:prstGeom prst="line">
            <a:avLst/>
          </a:prstGeom>
          <a:noFill/>
          <a:ln w="25400">
            <a:solidFill>
              <a:srgbClr val="D9DDFF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868680" y="5120640"/>
            <a:ext cx="685800" cy="685800"/>
          </a:xfrm>
          <a:prstGeom prst="ellipse">
            <a:avLst/>
          </a:prstGeom>
          <a:solidFill>
            <a:srgbClr val="000F9F"/>
          </a:solidFill>
          <a:ln/>
        </p:spPr>
      </p:sp>
      <p:sp>
        <p:nvSpPr>
          <p:cNvPr id="25" name="Text 22"/>
          <p:cNvSpPr/>
          <p:nvPr/>
        </p:nvSpPr>
        <p:spPr>
          <a:xfrm>
            <a:off x="868680" y="512064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1783080" y="512064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Ajuste de los pesos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6035040" y="5120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Actualizarlos con el gradiente descendente para reducir el error.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Resumen de la sesión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15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Una red de neuronas imita el cerebro: neuronas (nodos) y sinapsis (conexiones con pesos).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perceptrón simple (LTU + función escalón) solo resuelve problemas linealmente separables (falla en XOR).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El perceptrón multicapa (MLP) con capas ocultas resuelve problemas no lineales.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Cada capa tiene operación, bias y función de activación (ReLU, sigmoide, tanh, softmax…).</a:t>
            </a:r>
            <a:endParaRPr lang="en-US" sz="16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6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La red aprende con backpropagation + descenso del gradiente.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66928"/>
            <a:ext cx="146304" cy="566928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50292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315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Práctica y próxima clase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6199632"/>
            <a:ext cx="9966960" cy="0"/>
          </a:xfrm>
          <a:prstGeom prst="line">
            <a:avLst/>
          </a:prstGeom>
          <a:noFill/>
          <a:ln w="12700">
            <a:solidFill>
              <a:srgbClr val="D9DDFF"/>
            </a:solidFill>
            <a:prstDash val="solid"/>
          </a:ln>
        </p:spPr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6327648"/>
            <a:ext cx="1078992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6327648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079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16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868680" y="1828800"/>
            <a:ext cx="5212080" cy="3840480"/>
          </a:xfrm>
          <a:prstGeom prst="rect">
            <a:avLst/>
          </a:prstGeom>
          <a:solidFill>
            <a:srgbClr val="F4F6FF"/>
          </a:solidFill>
          <a:ln w="12700">
            <a:solidFill>
              <a:srgbClr val="D9DD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68680" y="1828800"/>
            <a:ext cx="5212080" cy="128016"/>
          </a:xfrm>
          <a:prstGeom prst="rect">
            <a:avLst/>
          </a:prstGeom>
          <a:solidFill>
            <a:srgbClr val="FF647E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1031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Ahora: notebooks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097280" y="2697480"/>
            <a:ext cx="475488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01 · El perceptrón desde cero y las funciones de activación (NumPy).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0B1031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02 · Tu primera red de neuronas con Keras (resolviendo el XOR).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b="1" dirty="0">
                <a:solidFill>
                  <a:srgbClr val="FF647E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Ábrelos en Colab y ejecuta cada celda.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263640" y="1828800"/>
            <a:ext cx="5120640" cy="3840480"/>
          </a:xfrm>
          <a:prstGeom prst="rect">
            <a:avLst/>
          </a:prstGeom>
          <a:solidFill>
            <a:srgbClr val="000F9F"/>
          </a:solidFill>
          <a:ln/>
        </p:spPr>
      </p:sp>
      <p:sp>
        <p:nvSpPr>
          <p:cNvPr id="13" name="Shape 10"/>
          <p:cNvSpPr/>
          <p:nvPr/>
        </p:nvSpPr>
        <p:spPr>
          <a:xfrm>
            <a:off x="6263640" y="1828800"/>
            <a:ext cx="5120640" cy="128016"/>
          </a:xfrm>
          <a:prstGeom prst="rect">
            <a:avLst/>
          </a:prstGeom>
          <a:solidFill>
            <a:srgbClr val="67E3D4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2103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7E3D4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Próxima clase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6492240" y="26974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Módulo 2 · Unidad 2: Clasificación con redes de neuronas.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Construir y entrenar un clasificador completo.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❯"/>
            </a:pPr>
            <a:r>
              <a:rPr lang="en-US" sz="14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Métricas de evaluación.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647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1280160"/>
            <a:ext cx="3840480" cy="3840480"/>
          </a:xfrm>
          <a:prstGeom prst="ellipse">
            <a:avLst/>
          </a:prstGeom>
          <a:solidFill>
            <a:srgbClr val="FF9BAC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21945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❯❯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7432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00F9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777240" y="41148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Titillium Web" pitchFamily="34" charset="0"/>
                <a:ea typeface="Titillium Web" pitchFamily="34" charset="-122"/>
                <a:cs typeface="Titillium Web" pitchFamily="34" charset="-120"/>
              </a:rPr>
              <a:t>Nos vemos en la próxima videoclase.</a:t>
            </a:r>
            <a:endParaRPr lang="en-US" sz="2000" dirty="0"/>
          </a:p>
        </p:txBody>
      </p:sp>
      <p:pic>
        <p:nvPicPr>
          <p:cNvPr id="6" name="Image 0" descr="logo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0" y="6263640"/>
            <a:ext cx="1325880" cy="5029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3 - M2U1 Redes de neuronas</dc:title>
  <dc:subject>PptxGenJS Presentation</dc:subject>
  <dc:creator>Ignacio López</dc:creator>
  <cp:lastModifiedBy>Ignacio López</cp:lastModifiedBy>
  <cp:revision>1</cp:revision>
  <dcterms:created xsi:type="dcterms:W3CDTF">2026-06-08T12:47:32Z</dcterms:created>
  <dcterms:modified xsi:type="dcterms:W3CDTF">2026-06-08T12:47:32Z</dcterms:modified>
</cp:coreProperties>
</file>