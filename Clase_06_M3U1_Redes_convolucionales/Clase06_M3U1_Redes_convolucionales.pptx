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4028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de neuronas convolucionales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594360" y="379476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31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6 · Módulo 3 — Unidad 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526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Visión artificial mediante el Deep Learning</a:t>
            </a:r>
            <a:endParaRPr lang="en-US" sz="1600" dirty="0"/>
          </a:p>
        </p:txBody>
      </p:sp>
      <p:pic>
        <p:nvPicPr>
          <p:cNvPr id="10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Bienvenida: empezamos el Módulo 3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Ya sabemos clasificar y predecir con redes. Hoy hacemos que la red vea imágenes.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Entramos en la visión artificial con redes convolucionales (CNN).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Veremos de dónde vienen, cómo procesan una imagen y cómo construir un clasificador de imágenes.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55280" y="1691640"/>
            <a:ext cx="3474720" cy="365760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veremos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183880" y="24688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1.1  Introducción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 Visión artificial con redes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1.3  Redes convolucionales (CNN)</a:t>
            </a:r>
            <a:endParaRPr lang="en-US" sz="15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convolución · pooling · flatten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¿Qué es la visión artificial?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1.1 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Visión artificial (computer vision)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Imitar el sentido de la vista por computador: extraer y analizar información útil a partir de imágenes. Las CNN han hecho esto mucho más sencillo.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2377440"/>
            <a:ext cx="3337560" cy="15087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377440"/>
            <a:ext cx="333756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Agricultura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2999232"/>
            <a:ext cx="2935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Evaluar cultivos para la recogida.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07408" y="2377440"/>
            <a:ext cx="3337560" cy="15087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07408" y="2377440"/>
            <a:ext cx="333756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4608576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Vehículos autónomos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08576" y="2999232"/>
            <a:ext cx="2935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Analizar el entorno en tiempo real.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946136" y="2377440"/>
            <a:ext cx="3337560" cy="15087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46136" y="2377440"/>
            <a:ext cx="333756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9" name="Text 16"/>
          <p:cNvSpPr/>
          <p:nvPr/>
        </p:nvSpPr>
        <p:spPr>
          <a:xfrm>
            <a:off x="8147304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Biometría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147304" y="2999232"/>
            <a:ext cx="2935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Identificar rostros y expresiones.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68680" y="4114800"/>
            <a:ext cx="3337560" cy="15087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4114800"/>
            <a:ext cx="3337560" cy="109728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23" name="Text 20"/>
          <p:cNvSpPr/>
          <p:nvPr/>
        </p:nvSpPr>
        <p:spPr>
          <a:xfrm>
            <a:off x="1069848" y="42976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069848" y="4736592"/>
            <a:ext cx="2935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Detectar situaciones anómalas.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407408" y="4114800"/>
            <a:ext cx="3337560" cy="15087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07408" y="4114800"/>
            <a:ext cx="333756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27" name="Text 24"/>
          <p:cNvSpPr/>
          <p:nvPr/>
        </p:nvSpPr>
        <p:spPr>
          <a:xfrm>
            <a:off x="4608576" y="42976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Medicina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608576" y="4736592"/>
            <a:ext cx="2935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Identificar enfermedades en imágenes.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946136" y="4114800"/>
            <a:ext cx="3337560" cy="15087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946136" y="4114800"/>
            <a:ext cx="3337560" cy="109728"/>
          </a:xfrm>
          <a:prstGeom prst="rect">
            <a:avLst/>
          </a:prstGeom>
          <a:solidFill>
            <a:srgbClr val="00A38C"/>
          </a:solidFill>
          <a:ln/>
        </p:spPr>
      </p:sp>
      <p:sp>
        <p:nvSpPr>
          <p:cNvPr id="31" name="Text 28"/>
          <p:cNvSpPr/>
          <p:nvPr/>
        </p:nvSpPr>
        <p:spPr>
          <a:xfrm>
            <a:off x="8147304" y="42976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Medioambiente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8147304" y="4736592"/>
            <a:ext cx="2935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Detectar niveles de contaminación.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VISIÓN ARTIFICIAL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Inspiración biológica e historia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Hubel y Wiesel (1959-68): el córtex visual tiene neuronas con campos receptivos pequeños.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Modelo en cascada: células simples extraen rasgos básicos (líneas) y células complejas los combinan.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visión se entiende como una jerarquía: de lo simple a lo complejo.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240280" y="3657600"/>
            <a:ext cx="640080" cy="64008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224028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1980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4434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Neocognitrón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4800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Primera CNN (Fukushima)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880360" y="3977640"/>
            <a:ext cx="1600200" cy="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52160" y="3657600"/>
            <a:ext cx="640080" cy="64008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15" name="Text 12"/>
          <p:cNvSpPr/>
          <p:nvPr/>
        </p:nvSpPr>
        <p:spPr>
          <a:xfrm>
            <a:off x="585216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1998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480560" y="4434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LeNet-5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80560" y="4800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 + pooling (LeCun)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92240" y="3977640"/>
            <a:ext cx="1600200" cy="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464040" y="3657600"/>
            <a:ext cx="640080" cy="64008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20" name="Text 17"/>
          <p:cNvSpPr/>
          <p:nvPr/>
        </p:nvSpPr>
        <p:spPr>
          <a:xfrm>
            <a:off x="94640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2012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92440" y="4434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AlexNet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92440" y="4800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Usa GPU; despega el campo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VISIÓN ARTIFICIAL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imagen es una matriz de píxeles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Cada píxel guarda un valor numérico discreto; se accede por fila (x) y columna (y).</a:t>
            </a:r>
            <a:endParaRPr lang="en-US" sz="15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Acromática (escala de grises): una sola matriz.</a:t>
            </a:r>
            <a:endParaRPr lang="en-US" sz="15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Cromática (color): tres matrices, una por canal RGB (Rojo, Verde, Azul).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863840" y="2194560"/>
            <a:ext cx="2377440" cy="2377440"/>
          </a:xfrm>
          <a:prstGeom prst="rect">
            <a:avLst/>
          </a:prstGeom>
          <a:solidFill>
            <a:srgbClr val="67E3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83880" y="2386584"/>
            <a:ext cx="2377440" cy="2377440"/>
          </a:xfrm>
          <a:prstGeom prst="rect">
            <a:avLst/>
          </a:prstGeom>
          <a:solidFill>
            <a:srgbClr val="00A3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03920" y="2578608"/>
            <a:ext cx="2377440" cy="2377440"/>
          </a:xfrm>
          <a:prstGeom prst="rect">
            <a:avLst/>
          </a:prstGeom>
          <a:solidFill>
            <a:srgbClr val="4355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8096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Imagen RGB = 3 matrices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Capas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capas de una CNN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Convolución, pooling y aplanamiento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· CAPAS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capa convolucional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6492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Aplica filtros (kernels) sobre secciones de la imagen para resaltar características.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Cada filtro genera un mapa de características; sus valores son los pesos que la red aprende.</a:t>
            </a:r>
            <a:endParaRPr lang="en-US" sz="14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Tamaño del filtro: matriz cuadrada (p. ej. 3×3).</a:t>
            </a:r>
            <a:endParaRPr lang="en-US" sz="14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Stride (desplazamiento): cuánto se mueve el filtro (por defecto 1).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TensorFlow: Conv2D.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80960" y="2103120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65008" y="2103120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49056" y="2103120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833104" y="2103120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0" y="2487168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65008" y="2487168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49056" y="2487168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833104" y="2487168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80960" y="2871216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65008" y="2871216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49056" y="2871216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833104" y="2871216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80960" y="3255264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65008" y="3255264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49056" y="3255264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833104" y="3255264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680960" y="2103120"/>
            <a:ext cx="768096" cy="768096"/>
          </a:xfrm>
          <a:prstGeom prst="rect">
            <a:avLst/>
          </a:prstGeom>
          <a:solidFill>
            <a:srgbClr val="FF647E">
              <a:alpha val="65000"/>
            </a:srgbClr>
          </a:solidFill>
          <a:ln w="25400">
            <a:solidFill>
              <a:srgbClr val="FF647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8096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filtro 3×3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418320" y="2697480"/>
            <a:ext cx="64008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10149840" y="2286000"/>
            <a:ext cx="411480" cy="411480"/>
          </a:xfrm>
          <a:prstGeom prst="rect">
            <a:avLst/>
          </a:prstGeom>
          <a:solidFill>
            <a:srgbClr val="6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561320" y="2286000"/>
            <a:ext cx="411480" cy="411480"/>
          </a:xfrm>
          <a:prstGeom prst="rect">
            <a:avLst/>
          </a:prstGeom>
          <a:solidFill>
            <a:srgbClr val="6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149840" y="2697480"/>
            <a:ext cx="411480" cy="411480"/>
          </a:xfrm>
          <a:prstGeom prst="rect">
            <a:avLst/>
          </a:prstGeom>
          <a:solidFill>
            <a:srgbClr val="6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561320" y="2697480"/>
            <a:ext cx="411480" cy="411480"/>
          </a:xfrm>
          <a:prstGeom prst="rect">
            <a:avLst/>
          </a:prstGeom>
          <a:solidFill>
            <a:srgbClr val="6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96696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mapa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características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· CAPAS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Pooling y Zero Padding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3383280" cy="20116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0116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Max-pooling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50592"/>
            <a:ext cx="298094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Divide en regiones y toma el valor máximo. La más usada.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Reduce dimensionalidad. MaxPooling2D.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1828800"/>
            <a:ext cx="3383280" cy="20116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82880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36008" y="20116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Average-pooling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6008" y="2450592"/>
            <a:ext cx="298094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Toma el valor medio de cada región.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AveragePooling2D.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1000" y="1828800"/>
            <a:ext cx="3383280" cy="20116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01000" y="182880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8" name="Text 15"/>
          <p:cNvSpPr/>
          <p:nvPr/>
        </p:nvSpPr>
        <p:spPr>
          <a:xfrm>
            <a:off x="8202168" y="20116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Zero Padding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02168" y="2450592"/>
            <a:ext cx="298094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Añade un margen de ceros para conservar el tamaño de la imagen tras la convolución.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8680" y="42062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pooling reduce el cómputo y el riesgo de sobreajuste; sus filtros NO se entrenan y no usan activación.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Keras, padding 'valid' (sin margen) o 'same' (conserva el tamaño).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· CAPAS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Aplanamiento y normalización por lotes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920240"/>
            <a:ext cx="5212080" cy="21945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920240"/>
            <a:ext cx="52120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10312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Flatten (aplanamiento)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542032"/>
            <a:ext cx="480974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convoluciones trabajan con matrices, pero el perceptrón final necesita un vector.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Flatten convierte la matriz/cubo de características en un vector para las capas densas.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920240"/>
            <a:ext cx="5120640" cy="21945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920240"/>
            <a:ext cx="512064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6464808" y="210312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Batch Normalization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64808" y="2542032"/>
            <a:ext cx="47183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Normaliza las salidas de cada capa (reescala y recentra).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Hace el entrenamiento más rápido y estable. BatchNormalization.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828800" y="46634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74520" y="4663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Matriz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(cubo)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474720" y="5074920"/>
            <a:ext cx="73152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297680" y="46634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43400" y="4663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Flatten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943600" y="5074920"/>
            <a:ext cx="73152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766560" y="46634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12280" y="4663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Vector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convolucionales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Anatomía y construcción de una CNN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1.3 CNN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Anatomía de una CNN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CNN tiene dos secciones: extrae características de la imagen y luego clasifica.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2194560"/>
            <a:ext cx="5760720" cy="3291840"/>
          </a:xfrm>
          <a:prstGeom prst="rect">
            <a:avLst/>
          </a:prstGeom>
          <a:solidFill>
            <a:srgbClr val="F4F6FF"/>
          </a:solidFill>
          <a:ln w="19050">
            <a:solidFill>
              <a:srgbClr val="FF647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 · Extracción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97280" y="274320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3000" y="2743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Conv2D + ReLU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97280" y="352044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3000" y="35204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Max-pooling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97280" y="429768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" y="42976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(se repite...) → Flatten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97280" y="4983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Convierte la imagen en un vector de características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903720" y="2194560"/>
            <a:ext cx="4480560" cy="329184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 · Clasificación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132320" y="274320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78040" y="2743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+ ReLU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132320" y="352044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78040" y="3520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+ Softmax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132320" y="43434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 perceptrón multicapa decide la clase a partir del vector.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1.3 CNN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Ejemplo: clasificar animales (caballo/perro/gato)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Datos: 198 imágenes RGB por clase (96×96). Augmentación con ImageDataGenerator (rescale, rotación, flip).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flow_from_directory carga las imágenes y asigna la clase según la carpeta.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31089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1089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4× Conv2D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3×3 ReLU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97480" y="361188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971800" y="31089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17520" y="31089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3× MaxPool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2×2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983480" y="361188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257800" y="31089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0" y="31089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Flatten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269480" y="361188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543800" y="31089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0" y="31089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512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ReLU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555480" y="361188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829800" y="31089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75520" y="31089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Softmax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8680" y="4572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Compilación: optimizador Adam · pérdida categorical crossentropy · ~586.851 coeficientes.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68680" y="50749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capas de pooling no tienen coeficientes que entrenar.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padding 'same' conserva el tamaño; 'valid' (por defecto) lo reduce un poco.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Resumen de la sesión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visión artificial extrae información de imágenes; las CNN la hacen sencilla.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imagen es una matriz de píxeles (1 canal en gris, 3 canales en RGB).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Capa convolucional: filtros que generan mapas de características (stride, padding).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Pooling reduce dimensionalidad; Flatten pasa de matriz a vector.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CNN = extracción (conv + pooling) + clasificación (capas densas).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 y próxima clase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Convolución y pooling desde cero (ver qué hace un filtro).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Tu primera CNN con Keras para clasificar imágenes.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Próxima clase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2: Redes de neuronas residuales.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Cómo entrenar redes muy profundas.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Conexiones residuales (skip connections).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6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6 - M3U1 Redes convolucionales</dc:title>
  <dc:subject>PptxGenJS Presentation</dc:subject>
  <dc:creator>Ignacio López</dc:creator>
  <cp:lastModifiedBy>Ignacio López</cp:lastModifiedBy>
  <cp:revision>1</cp:revision>
  <dcterms:created xsi:type="dcterms:W3CDTF">2026-06-08T15:38:11Z</dcterms:created>
  <dcterms:modified xsi:type="dcterms:W3CDTF">2026-06-08T15:38:11Z</dcterms:modified>
</cp:coreProperties>
</file>