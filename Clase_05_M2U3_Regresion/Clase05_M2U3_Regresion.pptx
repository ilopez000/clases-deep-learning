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297680"/>
            <a:ext cx="3291840" cy="3291840"/>
          </a:xfrm>
          <a:prstGeom prst="ellipse">
            <a:avLst/>
          </a:prstGeom>
          <a:solidFill>
            <a:srgbClr val="4355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647E"/>
          </a:solidFill>
          <a:ln/>
        </p:spPr>
      </p:sp>
      <p:pic>
        <p:nvPicPr>
          <p:cNvPr id="4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737360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18745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2286000"/>
            <a:ext cx="10789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Regresión</a:t>
            </a:r>
            <a:endParaRPr lang="en-US" sz="4600" dirty="0"/>
          </a:p>
        </p:txBody>
      </p:sp>
      <p:sp>
        <p:nvSpPr>
          <p:cNvPr id="7" name="Shape 4"/>
          <p:cNvSpPr/>
          <p:nvPr/>
        </p:nvSpPr>
        <p:spPr>
          <a:xfrm>
            <a:off x="594360" y="3703320"/>
            <a:ext cx="3108960" cy="64008"/>
          </a:xfrm>
          <a:prstGeom prst="rect">
            <a:avLst/>
          </a:prstGeom>
          <a:solidFill>
            <a:srgbClr val="67E3D4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3840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9BAC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Clase 5 · Módulo 2 — Unidad 3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8640" y="44348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Predecir valores continuos con redes de neuronas</a:t>
            </a:r>
            <a:endParaRPr lang="en-US" sz="1600" dirty="0"/>
          </a:p>
        </p:txBody>
      </p:sp>
      <p:pic>
        <p:nvPicPr>
          <p:cNvPr id="10" name="Image 1" descr="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CLASE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Bienvenida y objetivos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691640"/>
            <a:ext cx="66751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Ya sabemos clasificar (predecir etiquetas). Hoy predecimos valores continuos.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Eso es la regresión: estimar un número (un precio, una temperatura…).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Veremos la base matemática, las funciones de pérdida propias y cómo hacerlo con redes.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955280" y="1691640"/>
            <a:ext cx="3474720" cy="3931920"/>
          </a:xfrm>
          <a:prstGeom prst="rect">
            <a:avLst/>
          </a:prstGeom>
          <a:solidFill>
            <a:srgbClr val="000F9F"/>
          </a:solidFill>
          <a:ln/>
        </p:spPr>
      </p:sp>
      <p:sp>
        <p:nvSpPr>
          <p:cNvPr id="10" name="Text 7"/>
          <p:cNvSpPr/>
          <p:nvPr/>
        </p:nvSpPr>
        <p:spPr>
          <a:xfrm>
            <a:off x="8183880" y="1920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Hoy veremos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183880" y="2468880"/>
            <a:ext cx="31089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Regresión lineal matemática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Funciones de pérdida (MSE…)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Regresión simple con red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Regresión múltiple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Regularización (L1, L2)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3.1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Introducción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41248" y="5029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¿Qué es la regresión y su relación con las redes?</a:t>
            </a:r>
            <a:endParaRPr lang="en-US" sz="1800" dirty="0"/>
          </a:p>
        </p:txBody>
      </p:sp>
      <p:pic>
        <p:nvPicPr>
          <p:cNvPr id="7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3.1 INTRODUCCIÓN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Clasificar vs. predecir un número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78308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Regresión: estudiar la relación entre variables independientes (predictoras) y una variable dependiente (la que se predice).</a:t>
            </a:r>
            <a:endParaRPr lang="en-US" sz="1600" dirty="0"/>
          </a:p>
          <a:p>
            <a:pPr lvl="1" marL="406400" indent="-203200">
              <a:spcAft>
                <a:spcPts val="800"/>
              </a:spcAft>
              <a:buSzPct val="100000"/>
              <a:buChar char="–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Simple: una sola variable independiente.</a:t>
            </a:r>
            <a:endParaRPr lang="en-US" sz="1600" dirty="0"/>
          </a:p>
          <a:p>
            <a:pPr lvl="1" marL="406400" indent="-203200">
              <a:spcAft>
                <a:spcPts val="800"/>
              </a:spcAft>
              <a:buSzPct val="100000"/>
              <a:buChar char="–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Múltiple: varias variables independientes.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Un perceptrón multicapa equivale a una regresión: aplica la función identidad sobre una combinación lineal de pesos.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salida ya no es una clase, sino un valor numérico continuo.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3.2 REGRESIÓN MATEMÁTICA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recta de regresión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4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5544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regresión lineal simple ajusta la recta que mejor se acerca a todos los puntos: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68680" y="2148840"/>
            <a:ext cx="5486400" cy="777240"/>
          </a:xfrm>
          <a:prstGeom prst="roundRect">
            <a:avLst>
              <a:gd name="adj" fmla="val 7059"/>
            </a:avLst>
          </a:prstGeom>
          <a:solidFill>
            <a:srgbClr val="000F9F"/>
          </a:solidFill>
          <a:ln w="12700">
            <a:solidFill>
              <a:srgbClr val="000F9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214884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y = β₀ + β₁·x + ε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868680" y="3154680"/>
            <a:ext cx="56692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β₀: ordenada en el origen · β₁: pendiente · ε: error (residuo).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Los coeficientes minimizan la suma de cuadrados de los residuos.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949440" y="2194560"/>
            <a:ext cx="4206240" cy="329184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589520" y="4800600"/>
            <a:ext cx="146304" cy="146304"/>
          </a:xfrm>
          <a:prstGeom prst="ellipse">
            <a:avLst/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138160" y="4389120"/>
            <a:ext cx="146304" cy="146304"/>
          </a:xfrm>
          <a:prstGeom prst="ellipse">
            <a:avLst/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503920" y="4526280"/>
            <a:ext cx="146304" cy="146304"/>
          </a:xfrm>
          <a:prstGeom prst="ellipse">
            <a:avLst/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052560" y="3977640"/>
            <a:ext cx="146304" cy="146304"/>
          </a:xfrm>
          <a:prstGeom prst="ellipse">
            <a:avLst/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418320" y="3840480"/>
            <a:ext cx="146304" cy="146304"/>
          </a:xfrm>
          <a:prstGeom prst="ellipse">
            <a:avLst/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784080" y="3511296"/>
            <a:ext cx="146304" cy="146304"/>
          </a:xfrm>
          <a:prstGeom prst="ellipse">
            <a:avLst/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149840" y="3346704"/>
            <a:ext cx="146304" cy="146304"/>
          </a:xfrm>
          <a:prstGeom prst="ellipse">
            <a:avLst/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0515600" y="3017520"/>
            <a:ext cx="146304" cy="146304"/>
          </a:xfrm>
          <a:prstGeom prst="ellipse">
            <a:avLst/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869680" y="4169664"/>
            <a:ext cx="146304" cy="146304"/>
          </a:xfrm>
          <a:prstGeom prst="ellipse">
            <a:avLst/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955280" y="4608576"/>
            <a:ext cx="146304" cy="146304"/>
          </a:xfrm>
          <a:prstGeom prst="ellipse">
            <a:avLst/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223760" y="4882896"/>
            <a:ext cx="3657600" cy="-2002536"/>
          </a:xfrm>
          <a:prstGeom prst="line">
            <a:avLst/>
          </a:prstGeom>
          <a:noFill/>
          <a:ln w="38100">
            <a:solidFill>
              <a:srgbClr val="FF647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949440" y="55321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recta de regresión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3.2 REGRESIÓN MATEMÁTICA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Condiciones de la regresión lineal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5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1828800"/>
            <a:ext cx="5212080" cy="182880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1828800"/>
            <a:ext cx="5212080" cy="1097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0" name="Text 7"/>
          <p:cNvSpPr/>
          <p:nvPr/>
        </p:nvSpPr>
        <p:spPr>
          <a:xfrm>
            <a:off x="1069848" y="2011680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Linealidad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69848" y="2450592"/>
            <a:ext cx="480974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relación entre las variables debe ser lineal para que el modelo sea válido.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63640" y="1828800"/>
            <a:ext cx="5120640" cy="182880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63640" y="1828800"/>
            <a:ext cx="5120640" cy="109728"/>
          </a:xfrm>
          <a:prstGeom prst="rect">
            <a:avLst/>
          </a:prstGeom>
          <a:solidFill>
            <a:srgbClr val="4355FF"/>
          </a:solidFill>
          <a:ln/>
        </p:spPr>
      </p:sp>
      <p:sp>
        <p:nvSpPr>
          <p:cNvPr id="14" name="Text 11"/>
          <p:cNvSpPr/>
          <p:nvPr/>
        </p:nvSpPr>
        <p:spPr>
          <a:xfrm>
            <a:off x="6464808" y="2011680"/>
            <a:ext cx="4718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Normalidad de los residuos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464808" y="2450592"/>
            <a:ext cx="471830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Los residuos se distribuyen de forma normal, con media 0.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68680" y="3886200"/>
            <a:ext cx="5212080" cy="182880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68680" y="3886200"/>
            <a:ext cx="5212080" cy="109728"/>
          </a:xfrm>
          <a:prstGeom prst="rect">
            <a:avLst/>
          </a:prstGeom>
          <a:solidFill>
            <a:srgbClr val="67E3D4"/>
          </a:solidFill>
          <a:ln/>
        </p:spPr>
      </p:sp>
      <p:sp>
        <p:nvSpPr>
          <p:cNvPr id="18" name="Text 15"/>
          <p:cNvSpPr/>
          <p:nvPr/>
        </p:nvSpPr>
        <p:spPr>
          <a:xfrm>
            <a:off x="1069848" y="4069080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Homocedasticidad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069848" y="4507992"/>
            <a:ext cx="480974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varianza de los residuos es casi constante a lo largo del eje x.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263640" y="3886200"/>
            <a:ext cx="5120640" cy="182880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63640" y="3886200"/>
            <a:ext cx="5120640" cy="109728"/>
          </a:xfrm>
          <a:prstGeom prst="rect">
            <a:avLst/>
          </a:prstGeom>
          <a:solidFill>
            <a:srgbClr val="000F9F"/>
          </a:solidFill>
          <a:ln/>
        </p:spPr>
      </p:sp>
      <p:sp>
        <p:nvSpPr>
          <p:cNvPr id="22" name="Text 19"/>
          <p:cNvSpPr/>
          <p:nvPr/>
        </p:nvSpPr>
        <p:spPr>
          <a:xfrm>
            <a:off x="6464808" y="4069080"/>
            <a:ext cx="4718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Valores atípicos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464808" y="4507992"/>
            <a:ext cx="471830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Hay que analizarlos: pueden crear una correlación falsa u ocultar una real.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68680" y="58064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Las redes de neuronas no exigen estas condiciones, aunque producen un modelo similar.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3.3 FUNCIONES DE PÉRDIDA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Funciones de pérdida para regresión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6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5544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Las pérdidas de clasificación no sirven: aquí la salida es un número. Las más usadas: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68680" y="2286000"/>
            <a:ext cx="2606040" cy="310896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8680" y="2286000"/>
            <a:ext cx="2606040" cy="1097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1" name="Text 8"/>
          <p:cNvSpPr/>
          <p:nvPr/>
        </p:nvSpPr>
        <p:spPr>
          <a:xfrm>
            <a:off x="1069848" y="246888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MSE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69848" y="2907792"/>
            <a:ext cx="2203704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Error cuadrático medio.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Muy usada en regresión. Penaliza mucho los errores grandes (sensible a outliers).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657600" y="2286000"/>
            <a:ext cx="2606040" cy="310896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657600" y="2286000"/>
            <a:ext cx="2606040" cy="109728"/>
          </a:xfrm>
          <a:prstGeom prst="rect">
            <a:avLst/>
          </a:prstGeom>
          <a:solidFill>
            <a:srgbClr val="4355FF"/>
          </a:solidFill>
          <a:ln/>
        </p:spPr>
      </p:sp>
      <p:sp>
        <p:nvSpPr>
          <p:cNvPr id="15" name="Text 12"/>
          <p:cNvSpPr/>
          <p:nvPr/>
        </p:nvSpPr>
        <p:spPr>
          <a:xfrm>
            <a:off x="3858768" y="246888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RMSE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858768" y="2907792"/>
            <a:ext cx="2203704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Raíz del MSE.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Misma escala que los datos, más fácil de interpretar.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446520" y="2286000"/>
            <a:ext cx="2606040" cy="310896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46520" y="2286000"/>
            <a:ext cx="2606040" cy="109728"/>
          </a:xfrm>
          <a:prstGeom prst="rect">
            <a:avLst/>
          </a:prstGeom>
          <a:solidFill>
            <a:srgbClr val="67E3D4"/>
          </a:solidFill>
          <a:ln/>
        </p:spPr>
      </p:sp>
      <p:sp>
        <p:nvSpPr>
          <p:cNvPr id="19" name="Text 16"/>
          <p:cNvSpPr/>
          <p:nvPr/>
        </p:nvSpPr>
        <p:spPr>
          <a:xfrm>
            <a:off x="6647688" y="246888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MAE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647688" y="2907792"/>
            <a:ext cx="2203704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Error absoluto medio.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Menos sensible a outliers. Habitual en series temporales.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9235440" y="2286000"/>
            <a:ext cx="2194560" cy="310896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235440" y="2286000"/>
            <a:ext cx="2194560" cy="109728"/>
          </a:xfrm>
          <a:prstGeom prst="rect">
            <a:avLst/>
          </a:prstGeom>
          <a:solidFill>
            <a:srgbClr val="00A38C"/>
          </a:solidFill>
          <a:ln/>
        </p:spPr>
      </p:sp>
      <p:sp>
        <p:nvSpPr>
          <p:cNvPr id="23" name="Text 20"/>
          <p:cNvSpPr/>
          <p:nvPr/>
        </p:nvSpPr>
        <p:spPr>
          <a:xfrm>
            <a:off x="9436608" y="246888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R²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9436608" y="2907792"/>
            <a:ext cx="1792224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Coef. de determinación.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Sin escala: hasta 1 (mejor). Mide la calidad del ajuste.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3.4 — 3.5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Regresión con redes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41248" y="5029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De una variable a muchas: simple y múltiple</a:t>
            </a:r>
            <a:endParaRPr lang="en-US" sz="1800" dirty="0"/>
          </a:p>
        </p:txBody>
      </p:sp>
      <p:pic>
        <p:nvPicPr>
          <p:cNvPr id="7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3.4 REGRESIÓN SIMPLE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Regresión lineal simple con una red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8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5544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Una red de una sola neurona con activación lineal equivale a la recta de regresión (2 coeficientes).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280160" y="274320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325880" y="274320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Entrada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(1 variable: x)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943600" y="2743200"/>
            <a:ext cx="3108960" cy="1005840"/>
          </a:xfrm>
          <a:prstGeom prst="roundRect">
            <a:avLst>
              <a:gd name="adj" fmla="val 7273"/>
            </a:avLst>
          </a:prstGeom>
          <a:solidFill>
            <a:srgbClr val="FF647E"/>
          </a:solidFill>
          <a:ln w="12700">
            <a:solidFill>
              <a:srgbClr val="FF647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89320" y="27432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Dense 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activación lineal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023360" y="3246120"/>
            <a:ext cx="1920240" cy="0"/>
          </a:xfrm>
          <a:prstGeom prst="line">
            <a:avLst/>
          </a:prstGeom>
          <a:noFill/>
          <a:ln w="31750">
            <a:solidFill>
              <a:srgbClr val="000F9F"/>
            </a:solidFill>
            <a:prstDash val="solid"/>
            <a:tailEnd type="triangle"/>
          </a:ln>
        </p:spPr>
      </p:sp>
      <p:sp>
        <p:nvSpPr>
          <p:cNvPr id="14" name="Text 11"/>
          <p:cNvSpPr/>
          <p:nvPr/>
        </p:nvSpPr>
        <p:spPr>
          <a:xfrm>
            <a:off x="868680" y="411480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Ejemplo: predecir el precio de una vivienda a partir de su número de habitaciones.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Optimizador gradiente descendente; pérdida MAE; métricas MAE y MSE.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Con una sola variable el ajuste suele ser pobre: falta información.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3.5 REGRESIÓN MÚLTIPLE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Regresión lineal múltiple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9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5544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Añadimos más variables independientes y capas ocultas para un modelo más ajustado.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85800" y="274320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27432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Entrada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(13 atributos)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697480" y="3246120"/>
            <a:ext cx="274320" cy="0"/>
          </a:xfrm>
          <a:prstGeom prst="line">
            <a:avLst/>
          </a:prstGeom>
          <a:noFill/>
          <a:ln w="25400">
            <a:solidFill>
              <a:srgbClr val="000F9F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971800" y="274320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000F9F"/>
          </a:solidFill>
          <a:ln w="12700">
            <a:solidFill>
              <a:srgbClr val="000F9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017520" y="27432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Dense 13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ReLU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983480" y="3246120"/>
            <a:ext cx="274320" cy="0"/>
          </a:xfrm>
          <a:prstGeom prst="line">
            <a:avLst/>
          </a:prstGeom>
          <a:noFill/>
          <a:ln w="25400">
            <a:solidFill>
              <a:srgbClr val="000F9F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5257800" y="274320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000F9F"/>
          </a:solidFill>
          <a:ln w="12700">
            <a:solidFill>
              <a:srgbClr val="000F9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03520" y="27432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Dense 39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ReLU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269480" y="3246120"/>
            <a:ext cx="274320" cy="0"/>
          </a:xfrm>
          <a:prstGeom prst="line">
            <a:avLst/>
          </a:prstGeom>
          <a:noFill/>
          <a:ln w="25400">
            <a:solidFill>
              <a:srgbClr val="000F9F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7543800" y="274320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000F9F"/>
          </a:solidFill>
          <a:ln w="12700">
            <a:solidFill>
              <a:srgbClr val="000F9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89520" y="27432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Dense 13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ReLU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9555480" y="3246120"/>
            <a:ext cx="274320" cy="0"/>
          </a:xfrm>
          <a:prstGeom prst="line">
            <a:avLst/>
          </a:prstGeom>
          <a:noFill/>
          <a:ln w="25400">
            <a:solidFill>
              <a:srgbClr val="000F9F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9829800" y="274320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F647E"/>
          </a:solidFill>
          <a:ln w="12700">
            <a:solidFill>
              <a:srgbClr val="FF647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875520" y="27432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Dense 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lineal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68680" y="420624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Más atributos ⇒ mejor ajuste que la regresión simple.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Inicialización de pesos con el método de He; ~1.262 coeficientes en el ejemplo.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Conviene analizar la correlación entre atributos para elegir los más útiles.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3.6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Regularización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41248" y="5029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Modelos más simples que generalizan mejor</a:t>
            </a:r>
            <a:endParaRPr lang="en-US" sz="1800" dirty="0"/>
          </a:p>
        </p:txBody>
      </p:sp>
      <p:pic>
        <p:nvPicPr>
          <p:cNvPr id="7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3.6 REGULARIZACIÓN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¿Por qué regularizar?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Los modelos complejos tienden al sobreajuste (overfitting): bajan el error en train, pero suben en validación.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regularización penaliza la complejidad del modelo dentro de la función de pérdida.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Pérdida total = error + λ · complejidad(C).</a:t>
            </a:r>
            <a:endParaRPr lang="en-US" sz="1600" dirty="0"/>
          </a:p>
          <a:p>
            <a:pPr lvl="1" marL="406400" indent="-203200">
              <a:spcAft>
                <a:spcPts val="800"/>
              </a:spcAft>
              <a:buSzPct val="100000"/>
              <a:buChar char="–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λ (lambda) controla cuánta importancia damos a simplificar frente a ajustar.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Resultado: modelos más sencillos que generalizan mejor a datos nuevos.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3.6 REGULARIZACIÓN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Tres técnicas de regularización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12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2011680"/>
            <a:ext cx="3383280" cy="310896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2011680"/>
            <a:ext cx="3383280" cy="1097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0" name="Text 7"/>
          <p:cNvSpPr/>
          <p:nvPr/>
        </p:nvSpPr>
        <p:spPr>
          <a:xfrm>
            <a:off x="1069848" y="219456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L1 (Lasso)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69848" y="2633472"/>
            <a:ext cx="2980944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Penaliza el valor absoluto de los coeficientes.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Lleva algunos pesos a 0: descarta atributos irrelevantes.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434840" y="2011680"/>
            <a:ext cx="3383280" cy="310896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34840" y="2011680"/>
            <a:ext cx="3383280" cy="109728"/>
          </a:xfrm>
          <a:prstGeom prst="rect">
            <a:avLst/>
          </a:prstGeom>
          <a:solidFill>
            <a:srgbClr val="4355FF"/>
          </a:solidFill>
          <a:ln/>
        </p:spPr>
      </p:sp>
      <p:sp>
        <p:nvSpPr>
          <p:cNvPr id="14" name="Text 11"/>
          <p:cNvSpPr/>
          <p:nvPr/>
        </p:nvSpPr>
        <p:spPr>
          <a:xfrm>
            <a:off x="4636008" y="219456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L2 (Ridge)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636008" y="2633472"/>
            <a:ext cx="2980944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Penaliza el cuadrado de los coeficientes.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Reduce pesos sin anularlos: útil con atributos correlacionados.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001000" y="2011680"/>
            <a:ext cx="3383280" cy="310896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01000" y="2011680"/>
            <a:ext cx="3383280" cy="109728"/>
          </a:xfrm>
          <a:prstGeom prst="rect">
            <a:avLst/>
          </a:prstGeom>
          <a:solidFill>
            <a:srgbClr val="00A38C"/>
          </a:solidFill>
          <a:ln/>
        </p:spPr>
      </p:sp>
      <p:sp>
        <p:nvSpPr>
          <p:cNvPr id="18" name="Text 15"/>
          <p:cNvSpPr/>
          <p:nvPr/>
        </p:nvSpPr>
        <p:spPr>
          <a:xfrm>
            <a:off x="8202168" y="219456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Elastic Net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202168" y="2633472"/>
            <a:ext cx="2980944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Combina L1 y L2.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Aprovecha las ventajas de ambas.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68680" y="53492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En Keras se aplica con kernel_regularizer (p. ej. regularizers.l2(0.01)).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MÓDULO 2 · UNIDAD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Resumen de la sesión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13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regresión predice un valor continuo; una red con salida lineal equivale a la recta de regresión.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Recta: y = β₀ + β₁·x + ε; los coeficientes minimizan la suma de cuadrados de los residuos.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Pérdidas de regresión: MSE, RMSE, MAE y R² (no las de clasificación).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regresión múltiple (más atributos y capas) mejora el ajuste frente a la simple.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regularización (L1, L2) reduce el sobreajuste penalizando la complejidad.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MÓDULO 2 · UNIDAD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Práctica y próxima clase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14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1828800"/>
            <a:ext cx="5212080" cy="384048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1828800"/>
            <a:ext cx="5212080" cy="128016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0" name="Text 7"/>
          <p:cNvSpPr/>
          <p:nvPr/>
        </p:nvSpPr>
        <p:spPr>
          <a:xfrm>
            <a:off x="1097280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Ahora: notebooks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97280" y="2697480"/>
            <a:ext cx="47548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01 · Regresión simple y funciones de pérdida (MSE, RMSE, MAE, R²).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02 · Regresión múltiple con red profunda y regularización L1/L2.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Ábrelos en Colab y ejecuta cada celda.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63640" y="1828800"/>
            <a:ext cx="5120640" cy="3840480"/>
          </a:xfrm>
          <a:prstGeom prst="rect">
            <a:avLst/>
          </a:prstGeom>
          <a:solidFill>
            <a:srgbClr val="000F9F"/>
          </a:solidFill>
          <a:ln/>
        </p:spPr>
      </p:sp>
      <p:sp>
        <p:nvSpPr>
          <p:cNvPr id="13" name="Shape 10"/>
          <p:cNvSpPr/>
          <p:nvPr/>
        </p:nvSpPr>
        <p:spPr>
          <a:xfrm>
            <a:off x="6263640" y="1828800"/>
            <a:ext cx="5120640" cy="128016"/>
          </a:xfrm>
          <a:prstGeom prst="rect">
            <a:avLst/>
          </a:prstGeom>
          <a:solidFill>
            <a:srgbClr val="67E3D4"/>
          </a:solidFill>
          <a:ln/>
        </p:spPr>
      </p:sp>
      <p:sp>
        <p:nvSpPr>
          <p:cNvPr id="14" name="Text 11"/>
          <p:cNvSpPr/>
          <p:nvPr/>
        </p:nvSpPr>
        <p:spPr>
          <a:xfrm>
            <a:off x="6492240" y="21031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Próxima clase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492240" y="26974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Módulo 3 · Visión artificial con Deep Learning.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Redes de neuronas convolucionales (CNN).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Cómo una red aprende a ver imágenes.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64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280160"/>
            <a:ext cx="3840480" cy="3840480"/>
          </a:xfrm>
          <a:prstGeom prst="ellipse">
            <a:avLst/>
          </a:prstGeom>
          <a:solidFill>
            <a:srgbClr val="FF9BAC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194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¡Gracias!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7724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Nos vemos en la próxima videoclase.</a:t>
            </a:r>
            <a:endParaRPr lang="en-US" sz="2000" dirty="0"/>
          </a:p>
        </p:txBody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6263640"/>
            <a:ext cx="1325880" cy="502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5 - M2U3 Regresión</dc:title>
  <dc:subject>PptxGenJS Presentation</dc:subject>
  <dc:creator>Ignacio López</dc:creator>
  <cp:lastModifiedBy>Ignacio López</cp:lastModifiedBy>
  <cp:revision>1</cp:revision>
  <dcterms:created xsi:type="dcterms:W3CDTF">2026-06-08T14:19:18Z</dcterms:created>
  <dcterms:modified xsi:type="dcterms:W3CDTF">2026-06-08T14:19:18Z</dcterms:modified>
</cp:coreProperties>
</file>