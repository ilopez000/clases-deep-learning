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F9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4297680"/>
            <a:ext cx="3291840" cy="3291840"/>
          </a:xfrm>
          <a:prstGeom prst="ellipse">
            <a:avLst/>
          </a:prstGeom>
          <a:solidFill>
            <a:srgbClr val="4355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647E"/>
          </a:solidFill>
          <a:ln/>
        </p:spPr>
      </p:sp>
      <p:pic>
        <p:nvPicPr>
          <p:cNvPr id="4" name="Image 0" descr="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02920"/>
            <a:ext cx="1737360" cy="65836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66928" y="18745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❯❯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48640" y="2286000"/>
            <a:ext cx="10789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Redes de neuronas II</a:t>
            </a:r>
            <a:endParaRPr lang="en-US" sz="4400" dirty="0"/>
          </a:p>
        </p:txBody>
      </p:sp>
      <p:sp>
        <p:nvSpPr>
          <p:cNvPr id="7" name="Shape 4"/>
          <p:cNvSpPr/>
          <p:nvPr/>
        </p:nvSpPr>
        <p:spPr>
          <a:xfrm>
            <a:off x="594360" y="3703320"/>
            <a:ext cx="3108960" cy="64008"/>
          </a:xfrm>
          <a:prstGeom prst="rect">
            <a:avLst/>
          </a:prstGeom>
          <a:solidFill>
            <a:srgbClr val="67E3D4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" y="384048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9BAC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Clase 12 · Módulo 2 — Unidad 1 (Parte II)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48640" y="443484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9DD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Cómo entrenar y mejorar una red de neuronas</a:t>
            </a:r>
            <a:endParaRPr lang="en-US" sz="1600" dirty="0"/>
          </a:p>
        </p:txBody>
      </p:sp>
      <p:pic>
        <p:nvPicPr>
          <p:cNvPr id="10" name="Image 1" descr="logo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CLASE 12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Repaso y objetivos de hoy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6199632"/>
            <a:ext cx="9966960" cy="0"/>
          </a:xfrm>
          <a:prstGeom prst="line">
            <a:avLst/>
          </a:prstGeom>
          <a:noFill/>
          <a:ln w="12700">
            <a:solidFill>
              <a:srgbClr val="D9DDFF"/>
            </a:solidFill>
            <a:prstDash val="solid"/>
          </a:ln>
        </p:spPr>
      </p:sp>
      <p:pic>
        <p:nvPicPr>
          <p:cNvPr id="6" name="Image 0" descr="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68680" y="1691640"/>
            <a:ext cx="667512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5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En Redes de neuronas I vimos qué es una red (neurona, perceptrón, MLP) y cómo se compone.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500" b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Hoy nos centramos en CÓMO entrenarla bien y mejorar sus resultados.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7955280" y="1691640"/>
            <a:ext cx="3474720" cy="3657600"/>
          </a:xfrm>
          <a:prstGeom prst="rect">
            <a:avLst/>
          </a:prstGeom>
          <a:solidFill>
            <a:srgbClr val="000F9F"/>
          </a:solidFill>
          <a:ln/>
        </p:spPr>
      </p:sp>
      <p:sp>
        <p:nvSpPr>
          <p:cNvPr id="10" name="Text 7"/>
          <p:cNvSpPr/>
          <p:nvPr/>
        </p:nvSpPr>
        <p:spPr>
          <a:xfrm>
            <a:off x="8183880" y="19202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Hoy veremos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8183880" y="2468880"/>
            <a:ext cx="31089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Backpropagation en detalle</a:t>
            </a:r>
            <a:endParaRPr lang="en-US" sz="14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Optimizadores (SGD, Adam)</a:t>
            </a:r>
            <a:endParaRPr lang="en-US" sz="14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Inicialización de pesos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Regularización en redes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F9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73736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❯❯❯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2743200"/>
            <a:ext cx="10424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Cómo aprende una red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41248" y="41148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9DD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Backpropagation y descenso del gradiente, paso a paso</a:t>
            </a:r>
            <a:endParaRPr lang="en-US" sz="1800" dirty="0"/>
          </a:p>
        </p:txBody>
      </p:sp>
      <p:pic>
        <p:nvPicPr>
          <p:cNvPr id="6" name="Image 0" descr="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D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ENTRENAMIENTO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Backpropagation en cuatro etapas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6199632"/>
            <a:ext cx="9966960" cy="0"/>
          </a:xfrm>
          <a:prstGeom prst="line">
            <a:avLst/>
          </a:prstGeom>
          <a:noFill/>
          <a:ln w="12700">
            <a:solidFill>
              <a:srgbClr val="D9DDFF"/>
            </a:solidFill>
            <a:prstDash val="solid"/>
          </a:ln>
        </p:spPr>
      </p:sp>
      <p:pic>
        <p:nvPicPr>
          <p:cNvPr id="6" name="Image 0" descr="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3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868680" y="2011680"/>
            <a:ext cx="685800" cy="685800"/>
          </a:xfrm>
          <a:prstGeom prst="ellipse">
            <a:avLst/>
          </a:prstGeom>
          <a:solidFill>
            <a:srgbClr val="FF647E"/>
          </a:solidFill>
          <a:ln/>
        </p:spPr>
      </p:sp>
      <p:sp>
        <p:nvSpPr>
          <p:cNvPr id="9" name="Text 6"/>
          <p:cNvSpPr/>
          <p:nvPr/>
        </p:nvSpPr>
        <p:spPr>
          <a:xfrm>
            <a:off x="868680" y="20116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1783080" y="2011680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Propagación hacia delante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217920" y="2011680"/>
            <a:ext cx="5303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Se calcula la salida de la red para una instancia (inferencia).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1207008" y="2697480"/>
            <a:ext cx="0" cy="274320"/>
          </a:xfrm>
          <a:prstGeom prst="line">
            <a:avLst/>
          </a:prstGeom>
          <a:noFill/>
          <a:ln w="25400">
            <a:solidFill>
              <a:srgbClr val="D9DDF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68680" y="2971800"/>
            <a:ext cx="685800" cy="685800"/>
          </a:xfrm>
          <a:prstGeom prst="ellipse">
            <a:avLst/>
          </a:prstGeom>
          <a:solidFill>
            <a:srgbClr val="FF647E"/>
          </a:solidFill>
          <a:ln/>
        </p:spPr>
      </p:sp>
      <p:sp>
        <p:nvSpPr>
          <p:cNvPr id="14" name="Text 11"/>
          <p:cNvSpPr/>
          <p:nvPr/>
        </p:nvSpPr>
        <p:spPr>
          <a:xfrm>
            <a:off x="868680" y="29718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1783080" y="2971800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Cálculo del error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217920" y="2971800"/>
            <a:ext cx="5303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Se compara la salida con la esperada mediante la función de pérdida.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1207008" y="3657600"/>
            <a:ext cx="0" cy="274320"/>
          </a:xfrm>
          <a:prstGeom prst="line">
            <a:avLst/>
          </a:prstGeom>
          <a:noFill/>
          <a:ln w="25400">
            <a:solidFill>
              <a:srgbClr val="D9DDF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68680" y="3931920"/>
            <a:ext cx="685800" cy="685800"/>
          </a:xfrm>
          <a:prstGeom prst="ellipse">
            <a:avLst/>
          </a:prstGeom>
          <a:solidFill>
            <a:srgbClr val="000F9F"/>
          </a:solidFill>
          <a:ln/>
        </p:spPr>
      </p:sp>
      <p:sp>
        <p:nvSpPr>
          <p:cNvPr id="19" name="Text 16"/>
          <p:cNvSpPr/>
          <p:nvPr/>
        </p:nvSpPr>
        <p:spPr>
          <a:xfrm>
            <a:off x="868680" y="39319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1783080" y="3931920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Propagación hacia atrás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6217920" y="3931920"/>
            <a:ext cx="5303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Se reparte el error capa a capa: el gradiente de cada peso.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1207008" y="4617720"/>
            <a:ext cx="0" cy="274320"/>
          </a:xfrm>
          <a:prstGeom prst="line">
            <a:avLst/>
          </a:prstGeom>
          <a:noFill/>
          <a:ln w="25400">
            <a:solidFill>
              <a:srgbClr val="D9DDFF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68680" y="4892040"/>
            <a:ext cx="685800" cy="685800"/>
          </a:xfrm>
          <a:prstGeom prst="ellipse">
            <a:avLst/>
          </a:prstGeom>
          <a:solidFill>
            <a:srgbClr val="000F9F"/>
          </a:solidFill>
          <a:ln/>
        </p:spPr>
      </p:sp>
      <p:sp>
        <p:nvSpPr>
          <p:cNvPr id="24" name="Text 21"/>
          <p:cNvSpPr/>
          <p:nvPr/>
        </p:nvSpPr>
        <p:spPr>
          <a:xfrm>
            <a:off x="868680" y="48920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4</a:t>
            </a:r>
            <a:endParaRPr lang="en-US" sz="2200" dirty="0"/>
          </a:p>
        </p:txBody>
      </p:sp>
      <p:sp>
        <p:nvSpPr>
          <p:cNvPr id="25" name="Text 22"/>
          <p:cNvSpPr/>
          <p:nvPr/>
        </p:nvSpPr>
        <p:spPr>
          <a:xfrm>
            <a:off x="1783080" y="4892040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Ajuste de los pesos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6217920" y="4892040"/>
            <a:ext cx="5303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Se actualizan con el descenso del gradiente para reducir el error.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1783080" y="57607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Se repite para muchos ejemplos y épocas hasta que el error deja de bajar.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ENTRENAMIENTO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La tasa de aprendizaje importa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6199632"/>
            <a:ext cx="9966960" cy="0"/>
          </a:xfrm>
          <a:prstGeom prst="line">
            <a:avLst/>
          </a:prstGeom>
          <a:noFill/>
          <a:ln w="12700">
            <a:solidFill>
              <a:srgbClr val="D9DDFF"/>
            </a:solidFill>
            <a:prstDash val="solid"/>
          </a:ln>
        </p:spPr>
      </p:sp>
      <p:pic>
        <p:nvPicPr>
          <p:cNvPr id="6" name="Image 0" descr="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4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68680" y="1737360"/>
            <a:ext cx="104241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6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El descenso del gradiente ajusta los pesos en la dirección que reduce el error.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600" b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La tasa de aprendizaje (learning rate) controla el tamaño de cada paso.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868680" y="2743200"/>
            <a:ext cx="3383280" cy="237744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68680" y="2743200"/>
            <a:ext cx="3383280" cy="109728"/>
          </a:xfrm>
          <a:prstGeom prst="rect">
            <a:avLst/>
          </a:prstGeom>
          <a:solidFill>
            <a:srgbClr val="4355FF"/>
          </a:solidFill>
          <a:ln/>
        </p:spPr>
      </p:sp>
      <p:sp>
        <p:nvSpPr>
          <p:cNvPr id="11" name="Text 8"/>
          <p:cNvSpPr/>
          <p:nvPr/>
        </p:nvSpPr>
        <p:spPr>
          <a:xfrm>
            <a:off x="1069848" y="2926080"/>
            <a:ext cx="2980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Demasiado baja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069848" y="3364992"/>
            <a:ext cx="2980944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El entrenamiento es lentísimo y puede estancarse antes de llegar al mínimo.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434840" y="2743200"/>
            <a:ext cx="3383280" cy="237744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434840" y="2743200"/>
            <a:ext cx="3383280" cy="109728"/>
          </a:xfrm>
          <a:prstGeom prst="rect">
            <a:avLst/>
          </a:prstGeom>
          <a:solidFill>
            <a:srgbClr val="00A38C"/>
          </a:solidFill>
          <a:ln/>
        </p:spPr>
      </p:sp>
      <p:sp>
        <p:nvSpPr>
          <p:cNvPr id="15" name="Text 12"/>
          <p:cNvSpPr/>
          <p:nvPr/>
        </p:nvSpPr>
        <p:spPr>
          <a:xfrm>
            <a:off x="4636008" y="2926080"/>
            <a:ext cx="2980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Adecuada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4636008" y="3364992"/>
            <a:ext cx="2980944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Converge de forma estable hacia un buen mínimo.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8001000" y="2743200"/>
            <a:ext cx="3383280" cy="237744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001000" y="2743200"/>
            <a:ext cx="3383280" cy="1097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19" name="Text 16"/>
          <p:cNvSpPr/>
          <p:nvPr/>
        </p:nvSpPr>
        <p:spPr>
          <a:xfrm>
            <a:off x="8202168" y="2926080"/>
            <a:ext cx="2980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Demasiado alta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8202168" y="3364992"/>
            <a:ext cx="2980944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Da saltos grandes, oscila y puede no converger nunca.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F9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73736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❯❯❯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2743200"/>
            <a:ext cx="10424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Optimizadores e inicialización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41248" y="41148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9DD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Acelerar y estabilizar el entrenamiento</a:t>
            </a:r>
            <a:endParaRPr lang="en-US" sz="1800" dirty="0"/>
          </a:p>
        </p:txBody>
      </p:sp>
      <p:pic>
        <p:nvPicPr>
          <p:cNvPr id="6" name="Image 0" descr="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D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OPTIMIZADORES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Optimizadores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6199632"/>
            <a:ext cx="9966960" cy="0"/>
          </a:xfrm>
          <a:prstGeom prst="line">
            <a:avLst/>
          </a:prstGeom>
          <a:noFill/>
          <a:ln w="12700">
            <a:solidFill>
              <a:srgbClr val="D9DDFF"/>
            </a:solidFill>
            <a:prstDash val="solid"/>
          </a:ln>
        </p:spPr>
      </p:sp>
      <p:pic>
        <p:nvPicPr>
          <p:cNvPr id="6" name="Image 0" descr="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6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868680" y="1920240"/>
            <a:ext cx="3383280" cy="310896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68680" y="1920240"/>
            <a:ext cx="3383280" cy="109728"/>
          </a:xfrm>
          <a:prstGeom prst="rect">
            <a:avLst/>
          </a:prstGeom>
          <a:solidFill>
            <a:srgbClr val="4355FF"/>
          </a:solidFill>
          <a:ln/>
        </p:spPr>
      </p:sp>
      <p:sp>
        <p:nvSpPr>
          <p:cNvPr id="10" name="Text 7"/>
          <p:cNvSpPr/>
          <p:nvPr/>
        </p:nvSpPr>
        <p:spPr>
          <a:xfrm>
            <a:off x="1069848" y="2103120"/>
            <a:ext cx="2980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SGD (descenso del gradiente)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069848" y="2542032"/>
            <a:ext cx="2980944" cy="2340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Actualiza con el gradiente de un lote.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Sencillo, pero puede ser lento y estancarse en zonas planas.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434840" y="1920240"/>
            <a:ext cx="3383280" cy="310896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434840" y="1920240"/>
            <a:ext cx="3383280" cy="109728"/>
          </a:xfrm>
          <a:prstGeom prst="rect">
            <a:avLst/>
          </a:prstGeom>
          <a:solidFill>
            <a:srgbClr val="67E3D4"/>
          </a:solidFill>
          <a:ln/>
        </p:spPr>
      </p:sp>
      <p:sp>
        <p:nvSpPr>
          <p:cNvPr id="14" name="Text 11"/>
          <p:cNvSpPr/>
          <p:nvPr/>
        </p:nvSpPr>
        <p:spPr>
          <a:xfrm>
            <a:off x="4636008" y="2103120"/>
            <a:ext cx="2980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SGD + Momentum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4636008" y="2542032"/>
            <a:ext cx="2980944" cy="2340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Añade inercia: usa la actualización anterior para acelerar y evitar estancamientos.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001000" y="1920240"/>
            <a:ext cx="3383280" cy="310896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001000" y="1920240"/>
            <a:ext cx="3383280" cy="1097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18" name="Text 15"/>
          <p:cNvSpPr/>
          <p:nvPr/>
        </p:nvSpPr>
        <p:spPr>
          <a:xfrm>
            <a:off x="8202168" y="2103120"/>
            <a:ext cx="2980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Adam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8202168" y="2542032"/>
            <a:ext cx="2980944" cy="2340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Combina momentum y una tasa de aprendizaje adaptativa por parámetro.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El más usado por defecto.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868680" y="525780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Adam suele converger más rápido y con menos ajuste manual; SGD bien afinado puede generalizar algo mejor.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INICIALIZACIÓN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Inicialización de pesos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6199632"/>
            <a:ext cx="9966960" cy="0"/>
          </a:xfrm>
          <a:prstGeom prst="line">
            <a:avLst/>
          </a:prstGeom>
          <a:noFill/>
          <a:ln w="12700">
            <a:solidFill>
              <a:srgbClr val="D9DDFF"/>
            </a:solidFill>
            <a:prstDash val="solid"/>
          </a:ln>
        </p:spPr>
      </p:sp>
      <p:pic>
        <p:nvPicPr>
          <p:cNvPr id="6" name="Image 0" descr="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7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68680" y="1737360"/>
            <a:ext cx="104241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6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Los pesos se inicializan al azar, pero CÓMO se inicializan afecta mucho al entrenamiento.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600" b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Una mala inicialización provoca gradientes que se desvanecen o explotan.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868680" y="2743200"/>
            <a:ext cx="5212080" cy="237744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68680" y="2743200"/>
            <a:ext cx="5212080" cy="109728"/>
          </a:xfrm>
          <a:prstGeom prst="rect">
            <a:avLst/>
          </a:prstGeom>
          <a:solidFill>
            <a:srgbClr val="4355FF"/>
          </a:solidFill>
          <a:ln/>
        </p:spPr>
      </p:sp>
      <p:sp>
        <p:nvSpPr>
          <p:cNvPr id="11" name="Text 8"/>
          <p:cNvSpPr/>
          <p:nvPr/>
        </p:nvSpPr>
        <p:spPr>
          <a:xfrm>
            <a:off x="1069848" y="2926080"/>
            <a:ext cx="4809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Glorot / Xavier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069848" y="3364992"/>
            <a:ext cx="4809744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Pensada para activaciones sigmoide o tanh.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Mantiene la varianza de la señal entre capas.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263640" y="2743200"/>
            <a:ext cx="5120640" cy="237744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263640" y="2743200"/>
            <a:ext cx="5120640" cy="1097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15" name="Text 12"/>
          <p:cNvSpPr/>
          <p:nvPr/>
        </p:nvSpPr>
        <p:spPr>
          <a:xfrm>
            <a:off x="6464808" y="2926080"/>
            <a:ext cx="4718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He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6464808" y="3364992"/>
            <a:ext cx="4718304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Pensada para activaciones ReLU (y variantes).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La opción habitual en redes profundas modernas.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F9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73736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❯❯❯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2743200"/>
            <a:ext cx="10424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Regularización en redes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41248" y="41148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9DD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Evitar el sobreajuste para que la red generalice</a:t>
            </a:r>
            <a:endParaRPr lang="en-US" sz="1800" dirty="0"/>
          </a:p>
        </p:txBody>
      </p:sp>
      <p:pic>
        <p:nvPicPr>
          <p:cNvPr id="6" name="Image 0" descr="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D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REGULARIZACIÓN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Sobreajuste y cómo detectarlo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6199632"/>
            <a:ext cx="9966960" cy="0"/>
          </a:xfrm>
          <a:prstGeom prst="line">
            <a:avLst/>
          </a:prstGeom>
          <a:noFill/>
          <a:ln w="12700">
            <a:solidFill>
              <a:srgbClr val="D9DDFF"/>
            </a:solidFill>
            <a:prstDash val="solid"/>
          </a:ln>
        </p:spPr>
      </p:sp>
      <p:pic>
        <p:nvPicPr>
          <p:cNvPr id="6" name="Image 0" descr="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9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68680" y="1783080"/>
            <a:ext cx="64008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500" b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Sobreajuste (overfitting): la red memoriza el entrenamiento pero falla con datos nuevos.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5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Se detecta comparando las curvas de aprendizaje: si la pérdida de validación sube mientras la de entrenamiento baja, hay sobreajuste.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5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Las técnicas de regularización buscan que la red generalice mejor.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7498080" y="2194560"/>
            <a:ext cx="3749040" cy="310896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772400" y="4818888"/>
            <a:ext cx="320040" cy="-640233"/>
          </a:xfrm>
          <a:prstGeom prst="line">
            <a:avLst/>
          </a:prstGeom>
          <a:noFill/>
          <a:ln w="25400">
            <a:solidFill>
              <a:srgbClr val="000F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772400" y="3980180"/>
            <a:ext cx="320040" cy="-297180"/>
          </a:xfrm>
          <a:prstGeom prst="line">
            <a:avLst/>
          </a:prstGeom>
          <a:noFill/>
          <a:ln w="25400">
            <a:solidFill>
              <a:srgbClr val="FF647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092440" y="4178655"/>
            <a:ext cx="320040" cy="-458747"/>
          </a:xfrm>
          <a:prstGeom prst="line">
            <a:avLst/>
          </a:prstGeom>
          <a:noFill/>
          <a:ln w="25400">
            <a:solidFill>
              <a:srgbClr val="000F9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092440" y="3683000"/>
            <a:ext cx="320040" cy="-231140"/>
          </a:xfrm>
          <a:prstGeom prst="line">
            <a:avLst/>
          </a:prstGeom>
          <a:noFill/>
          <a:ln w="25400">
            <a:solidFill>
              <a:srgbClr val="FF647E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412480" y="3719907"/>
            <a:ext cx="320040" cy="-328707"/>
          </a:xfrm>
          <a:prstGeom prst="line">
            <a:avLst/>
          </a:prstGeom>
          <a:noFill/>
          <a:ln w="25400">
            <a:solidFill>
              <a:srgbClr val="000F9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412480" y="3451860"/>
            <a:ext cx="320040" cy="-165100"/>
          </a:xfrm>
          <a:prstGeom prst="line">
            <a:avLst/>
          </a:prstGeom>
          <a:noFill/>
          <a:ln w="25400">
            <a:solidFill>
              <a:srgbClr val="FF647E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732520" y="3391201"/>
            <a:ext cx="320040" cy="-235529"/>
          </a:xfrm>
          <a:prstGeom prst="line">
            <a:avLst/>
          </a:prstGeom>
          <a:noFill/>
          <a:ln w="25400">
            <a:solidFill>
              <a:srgbClr val="000F9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732520" y="3286760"/>
            <a:ext cx="320040" cy="-99060"/>
          </a:xfrm>
          <a:prstGeom prst="line">
            <a:avLst/>
          </a:prstGeom>
          <a:noFill/>
          <a:ln w="25400">
            <a:solidFill>
              <a:srgbClr val="FF647E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052560" y="3155672"/>
            <a:ext cx="320040" cy="-168764"/>
          </a:xfrm>
          <a:prstGeom prst="line">
            <a:avLst/>
          </a:prstGeom>
          <a:noFill/>
          <a:ln w="25400">
            <a:solidFill>
              <a:srgbClr val="000F9F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9052560" y="3187700"/>
            <a:ext cx="320040" cy="-33020"/>
          </a:xfrm>
          <a:prstGeom prst="line">
            <a:avLst/>
          </a:prstGeom>
          <a:noFill/>
          <a:ln w="25400">
            <a:solidFill>
              <a:srgbClr val="FF647E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9372600" y="2986908"/>
            <a:ext cx="320040" cy="-120924"/>
          </a:xfrm>
          <a:prstGeom prst="line">
            <a:avLst/>
          </a:prstGeom>
          <a:noFill/>
          <a:ln w="25400">
            <a:solidFill>
              <a:srgbClr val="000F9F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9372600" y="3154680"/>
            <a:ext cx="320040" cy="33020"/>
          </a:xfrm>
          <a:prstGeom prst="line">
            <a:avLst/>
          </a:prstGeom>
          <a:noFill/>
          <a:ln w="25400">
            <a:solidFill>
              <a:srgbClr val="FF647E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9692640" y="2865984"/>
            <a:ext cx="320040" cy="-86646"/>
          </a:xfrm>
          <a:prstGeom prst="line">
            <a:avLst/>
          </a:prstGeom>
          <a:noFill/>
          <a:ln w="25400">
            <a:solidFill>
              <a:srgbClr val="000F9F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9692640" y="3187700"/>
            <a:ext cx="320040" cy="99060"/>
          </a:xfrm>
          <a:prstGeom prst="line">
            <a:avLst/>
          </a:prstGeom>
          <a:noFill/>
          <a:ln w="25400">
            <a:solidFill>
              <a:srgbClr val="FF647E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0012680" y="2779338"/>
            <a:ext cx="320040" cy="-62085"/>
          </a:xfrm>
          <a:prstGeom prst="line">
            <a:avLst/>
          </a:prstGeom>
          <a:noFill/>
          <a:ln w="25400">
            <a:solidFill>
              <a:srgbClr val="000F9F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10012680" y="3286760"/>
            <a:ext cx="320040" cy="165100"/>
          </a:xfrm>
          <a:prstGeom prst="line">
            <a:avLst/>
          </a:prstGeom>
          <a:noFill/>
          <a:ln w="25400">
            <a:solidFill>
              <a:srgbClr val="FF647E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10332720" y="2717253"/>
            <a:ext cx="320040" cy="-44486"/>
          </a:xfrm>
          <a:prstGeom prst="line">
            <a:avLst/>
          </a:prstGeom>
          <a:noFill/>
          <a:ln w="25400">
            <a:solidFill>
              <a:srgbClr val="000F9F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0332720" y="3451860"/>
            <a:ext cx="320040" cy="231140"/>
          </a:xfrm>
          <a:prstGeom prst="line">
            <a:avLst/>
          </a:prstGeom>
          <a:noFill/>
          <a:ln w="25400">
            <a:solidFill>
              <a:srgbClr val="FF647E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10652760" y="2672767"/>
            <a:ext cx="320040" cy="-31875"/>
          </a:xfrm>
          <a:prstGeom prst="line">
            <a:avLst/>
          </a:prstGeom>
          <a:noFill/>
          <a:ln w="25400">
            <a:solidFill>
              <a:srgbClr val="000F9F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10652760" y="3683000"/>
            <a:ext cx="320040" cy="297180"/>
          </a:xfrm>
          <a:prstGeom prst="line">
            <a:avLst/>
          </a:prstGeom>
          <a:noFill/>
          <a:ln w="25400">
            <a:solidFill>
              <a:srgbClr val="FF647E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772400" y="4846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entrenamiento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9692640" y="22860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validación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7498080" y="53492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Curvas de aprendizaje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REGULARIZACIÓN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Técnicas de regularización en redes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6199632"/>
            <a:ext cx="9966960" cy="0"/>
          </a:xfrm>
          <a:prstGeom prst="line">
            <a:avLst/>
          </a:prstGeom>
          <a:noFill/>
          <a:ln w="12700">
            <a:solidFill>
              <a:srgbClr val="D9DDFF"/>
            </a:solidFill>
            <a:prstDash val="solid"/>
          </a:ln>
        </p:spPr>
      </p:sp>
      <p:pic>
        <p:nvPicPr>
          <p:cNvPr id="6" name="Image 0" descr="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10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868680" y="1828800"/>
            <a:ext cx="3383280" cy="182880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68680" y="1828800"/>
            <a:ext cx="3383280" cy="1097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10" name="Text 7"/>
          <p:cNvSpPr/>
          <p:nvPr/>
        </p:nvSpPr>
        <p:spPr>
          <a:xfrm>
            <a:off x="1069848" y="2011680"/>
            <a:ext cx="2980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Dropout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069848" y="2450592"/>
            <a:ext cx="2980944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Desactiva neuronas al azar en cada paso. Evita que la red dependa de unas pocas.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434840" y="1828800"/>
            <a:ext cx="3383280" cy="182880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434840" y="1828800"/>
            <a:ext cx="3383280" cy="109728"/>
          </a:xfrm>
          <a:prstGeom prst="rect">
            <a:avLst/>
          </a:prstGeom>
          <a:solidFill>
            <a:srgbClr val="4355FF"/>
          </a:solidFill>
          <a:ln/>
        </p:spPr>
      </p:sp>
      <p:sp>
        <p:nvSpPr>
          <p:cNvPr id="14" name="Text 11"/>
          <p:cNvSpPr/>
          <p:nvPr/>
        </p:nvSpPr>
        <p:spPr>
          <a:xfrm>
            <a:off x="4636008" y="2011680"/>
            <a:ext cx="2980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Early stopping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4636008" y="2450592"/>
            <a:ext cx="2980944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Detener el entrenamiento cuando la validación deja de mejorar.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001000" y="1828800"/>
            <a:ext cx="3383280" cy="182880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001000" y="1828800"/>
            <a:ext cx="3383280" cy="109728"/>
          </a:xfrm>
          <a:prstGeom prst="rect">
            <a:avLst/>
          </a:prstGeom>
          <a:solidFill>
            <a:srgbClr val="67E3D4"/>
          </a:solidFill>
          <a:ln/>
        </p:spPr>
      </p:sp>
      <p:sp>
        <p:nvSpPr>
          <p:cNvPr id="18" name="Text 15"/>
          <p:cNvSpPr/>
          <p:nvPr/>
        </p:nvSpPr>
        <p:spPr>
          <a:xfrm>
            <a:off x="8202168" y="2011680"/>
            <a:ext cx="2980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Batch Normalization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8202168" y="2450592"/>
            <a:ext cx="2980944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Normaliza las salidas de cada capa: entrena más rápido y estable.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868680" y="3886200"/>
            <a:ext cx="3383280" cy="182880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68680" y="3886200"/>
            <a:ext cx="3383280" cy="109728"/>
          </a:xfrm>
          <a:prstGeom prst="rect">
            <a:avLst/>
          </a:prstGeom>
          <a:solidFill>
            <a:srgbClr val="000F9F"/>
          </a:solidFill>
          <a:ln/>
        </p:spPr>
      </p:sp>
      <p:sp>
        <p:nvSpPr>
          <p:cNvPr id="22" name="Text 19"/>
          <p:cNvSpPr/>
          <p:nvPr/>
        </p:nvSpPr>
        <p:spPr>
          <a:xfrm>
            <a:off x="1069848" y="4069080"/>
            <a:ext cx="2980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Regularización L1 / L2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1069848" y="4507992"/>
            <a:ext cx="2980944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Penaliza los pesos grandes dentro de la función de pérdida.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4434840" y="3886200"/>
            <a:ext cx="3383280" cy="182880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434840" y="3886200"/>
            <a:ext cx="3383280" cy="109728"/>
          </a:xfrm>
          <a:prstGeom prst="rect">
            <a:avLst/>
          </a:prstGeom>
          <a:solidFill>
            <a:srgbClr val="00A38C"/>
          </a:solidFill>
          <a:ln/>
        </p:spPr>
      </p:sp>
      <p:sp>
        <p:nvSpPr>
          <p:cNvPr id="26" name="Text 23"/>
          <p:cNvSpPr/>
          <p:nvPr/>
        </p:nvSpPr>
        <p:spPr>
          <a:xfrm>
            <a:off x="4636008" y="4069080"/>
            <a:ext cx="2980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Más datos / aumentación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4636008" y="4507992"/>
            <a:ext cx="2980944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Más ejemplos (o datos artificiales) reducen el sobreajuste.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8001000" y="3886200"/>
            <a:ext cx="3383280" cy="182880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8001000" y="3886200"/>
            <a:ext cx="3383280" cy="109728"/>
          </a:xfrm>
          <a:prstGeom prst="rect">
            <a:avLst/>
          </a:prstGeom>
          <a:solidFill>
            <a:srgbClr val="4355FF"/>
          </a:solidFill>
          <a:ln/>
        </p:spPr>
      </p:sp>
      <p:sp>
        <p:nvSpPr>
          <p:cNvPr id="30" name="Text 27"/>
          <p:cNvSpPr/>
          <p:nvPr/>
        </p:nvSpPr>
        <p:spPr>
          <a:xfrm>
            <a:off x="8202168" y="4069080"/>
            <a:ext cx="2980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Reducir el tamaño</a:t>
            </a:r>
            <a:endParaRPr lang="en-US" sz="1500" dirty="0"/>
          </a:p>
        </p:txBody>
      </p:sp>
      <p:sp>
        <p:nvSpPr>
          <p:cNvPr id="31" name="Text 28"/>
          <p:cNvSpPr/>
          <p:nvPr/>
        </p:nvSpPr>
        <p:spPr>
          <a:xfrm>
            <a:off x="8202168" y="4507992"/>
            <a:ext cx="2980944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Una red más pequeña tiene menos capacidad de memorizar.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MÓDULO 2 · UNIDAD 1 (II)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Resumen de la sesión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6199632"/>
            <a:ext cx="9966960" cy="0"/>
          </a:xfrm>
          <a:prstGeom prst="line">
            <a:avLst/>
          </a:prstGeom>
          <a:noFill/>
          <a:ln w="12700">
            <a:solidFill>
              <a:srgbClr val="D9DDFF"/>
            </a:solidFill>
            <a:prstDash val="solid"/>
          </a:ln>
        </p:spPr>
      </p:sp>
      <p:pic>
        <p:nvPicPr>
          <p:cNvPr id="6" name="Image 0" descr="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11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6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Una red aprende con backpropagation: forward, error, backward y ajuste de pesos.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6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La tasa de aprendizaje es clave: ni muy baja ni muy alta.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6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Optimizadores: SGD, momentum y Adam (el más habitual).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6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La inicialización (Glorot, He) evita gradientes que se desvanecen o explotan.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600" b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Contra el sobreajuste: dropout, early stopping, batch norm, L1/L2, más datos.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MÓDULO 2 · UNIDAD 1 (II)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Práctica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6199632"/>
            <a:ext cx="9966960" cy="0"/>
          </a:xfrm>
          <a:prstGeom prst="line">
            <a:avLst/>
          </a:prstGeom>
          <a:noFill/>
          <a:ln w="12700">
            <a:solidFill>
              <a:srgbClr val="D9DDFF"/>
            </a:solidFill>
            <a:prstDash val="solid"/>
          </a:ln>
        </p:spPr>
      </p:sp>
      <p:pic>
        <p:nvPicPr>
          <p:cNvPr id="6" name="Image 0" descr="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12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868680" y="1828800"/>
            <a:ext cx="5212080" cy="384048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68680" y="1828800"/>
            <a:ext cx="5212080" cy="128016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10" name="Text 7"/>
          <p:cNvSpPr/>
          <p:nvPr/>
        </p:nvSpPr>
        <p:spPr>
          <a:xfrm>
            <a:off x="1097280" y="21031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Ahora: notebooks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097280" y="2697480"/>
            <a:ext cx="475488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4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01 · Optimizadores e inicialización: SGD vs Adam, He vs aleatoria.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4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02 · Regularización: dropout, batch norm y early stopping contra el sobreajuste.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400" b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Ábrelos en Colab y ejecuta cada celda.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263640" y="1828800"/>
            <a:ext cx="5120640" cy="3840480"/>
          </a:xfrm>
          <a:prstGeom prst="rect">
            <a:avLst/>
          </a:prstGeom>
          <a:solidFill>
            <a:srgbClr val="000F9F"/>
          </a:solidFill>
          <a:ln/>
        </p:spPr>
      </p:sp>
      <p:sp>
        <p:nvSpPr>
          <p:cNvPr id="13" name="Shape 10"/>
          <p:cNvSpPr/>
          <p:nvPr/>
        </p:nvSpPr>
        <p:spPr>
          <a:xfrm>
            <a:off x="6263640" y="1828800"/>
            <a:ext cx="5120640" cy="128016"/>
          </a:xfrm>
          <a:prstGeom prst="rect">
            <a:avLst/>
          </a:prstGeom>
          <a:solidFill>
            <a:srgbClr val="67E3D4"/>
          </a:solidFill>
          <a:ln/>
        </p:spPr>
      </p:sp>
      <p:sp>
        <p:nvSpPr>
          <p:cNvPr id="14" name="Text 11"/>
          <p:cNvSpPr/>
          <p:nvPr/>
        </p:nvSpPr>
        <p:spPr>
          <a:xfrm>
            <a:off x="6492240" y="21031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Para seguir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6492240" y="2697480"/>
            <a:ext cx="46634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400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Dibuja siempre las curvas de aprendizaje para diagnosticar.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400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Empieza con Adam y luego afina la tasa de aprendizaje.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400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Añade regularización solo si ves sobreajuste.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64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1280160"/>
            <a:ext cx="3840480" cy="3840480"/>
          </a:xfrm>
          <a:prstGeom prst="ellipse">
            <a:avLst/>
          </a:prstGeom>
          <a:solidFill>
            <a:srgbClr val="FF9BAC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21945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❯❯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74320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¡Gracias!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777240" y="4114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Nos vemos en la próxima videoclase.</a:t>
            </a:r>
            <a:endParaRPr lang="en-US" sz="2000" dirty="0"/>
          </a:p>
        </p:txBody>
      </p:sp>
      <p:pic>
        <p:nvPicPr>
          <p:cNvPr id="6" name="Image 0" descr="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0" y="6263640"/>
            <a:ext cx="1325880" cy="5029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Redes de neuronas II</dc:title>
  <dc:subject>PptxGenJS Presentation</dc:subject>
  <dc:creator>Ignacio López</dc:creator>
  <cp:lastModifiedBy>Ignacio López</cp:lastModifiedBy>
  <cp:revision>1</cp:revision>
  <dcterms:created xsi:type="dcterms:W3CDTF">2026-06-18T11:54:54Z</dcterms:created>
  <dcterms:modified xsi:type="dcterms:W3CDTF">2026-06-18T11:54:54Z</dcterms:modified>
</cp:coreProperties>
</file>