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 por refuerzo II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— Unidad 2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Q-Learning, exploración y Deep Q-Networks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M4 · U2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 teoría a los algoritmos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la Parte I vimos el marco: agente, entorno, MDP, política y valor Q(s,a).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Pero hicimos trampa: conocíamos el entorno y pudimos calcular los valores directamente.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el agente NO conoce el entorno: tiene que aprender Q(s,a) actuando y observando recompensas.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 (la tabla Q)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 vs. explotación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regla de actualización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Límites de la tabla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Deep Q-Networks (DQN)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a actuar sin conocer el entorno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Q-LEARNING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 del Q-Learning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Guardamos una tabla Q con una casilla por cada par (estado, acción).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casilla estima la recompensa total esperada de tomar esa acción en ese estado.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agente actúa, observa (recompensa + nuevo estado) y ajusta un poquito la casilla usada.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aprendizaje sin modelo (model-free): no necesita saber cómo funciona el entorno.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18120" y="1828800"/>
            <a:ext cx="356616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Tabla Q (estados × acciones)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50808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0616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250424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000232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971800"/>
            <a:ext cx="713232" cy="466344"/>
          </a:xfrm>
          <a:prstGeom prst="rect">
            <a:avLst/>
          </a:prstGeom>
          <a:solidFill>
            <a:srgbClr val="D9DD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297180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50808" y="297180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0808" y="297180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500616" y="2971800"/>
            <a:ext cx="713232" cy="466344"/>
          </a:xfrm>
          <a:prstGeom prst="rect">
            <a:avLst/>
          </a:prstGeom>
          <a:solidFill>
            <a:srgbClr val="67E3D4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0616" y="297180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.9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250424" y="297180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50424" y="297180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000232" y="297180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000232" y="297180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001000" y="3474720"/>
            <a:ext cx="713232" cy="466344"/>
          </a:xfrm>
          <a:prstGeom prst="rect">
            <a:avLst/>
          </a:prstGeom>
          <a:solidFill>
            <a:srgbClr val="D9DD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0" y="347472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s1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750808" y="347472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50808" y="347472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.7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500616" y="347472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00616" y="347472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250424" y="347472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50424" y="347472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.4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1000232" y="3474720"/>
            <a:ext cx="713232" cy="466344"/>
          </a:xfrm>
          <a:prstGeom prst="rect">
            <a:avLst/>
          </a:prstGeom>
          <a:solidFill>
            <a:srgbClr val="67E3D4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000232" y="347472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.8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001000" y="3977640"/>
            <a:ext cx="713232" cy="466344"/>
          </a:xfrm>
          <a:prstGeom prst="rect">
            <a:avLst/>
          </a:prstGeom>
          <a:solidFill>
            <a:srgbClr val="D9DD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01000" y="397764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s2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750808" y="397764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750808" y="397764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.1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500616" y="397764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00616" y="397764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.6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0250424" y="3977640"/>
            <a:ext cx="713232" cy="466344"/>
          </a:xfrm>
          <a:prstGeom prst="rect">
            <a:avLst/>
          </a:prstGeom>
          <a:solidFill>
            <a:srgbClr val="67E3D4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250424" y="397764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.9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1000232" y="397764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000232" y="397764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.3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001000" y="4480560"/>
            <a:ext cx="713232" cy="466344"/>
          </a:xfrm>
          <a:prstGeom prst="rect">
            <a:avLst/>
          </a:prstGeom>
          <a:solidFill>
            <a:srgbClr val="D9DD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01000" y="448056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750808" y="448056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50808" y="448056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.5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500616" y="448056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00616" y="448056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.4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0250424" y="4480560"/>
            <a:ext cx="713232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250424" y="448056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.2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1000232" y="4480560"/>
            <a:ext cx="713232" cy="466344"/>
          </a:xfrm>
          <a:prstGeom prst="rect">
            <a:avLst/>
          </a:prstGeom>
          <a:solidFill>
            <a:srgbClr val="67E3D4"/>
          </a:solidFill>
          <a:ln w="6350">
            <a:solidFill>
              <a:srgbClr val="D9DD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000232" y="4480560"/>
            <a:ext cx="713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.7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95528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verde = mejor acción del estado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Q-LEARNING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 vs. explotación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Dilema clave: ¿repito lo que ya sé que funciona, o pruebo algo nuevo por si es mejor?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331720"/>
            <a:ext cx="512064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3172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1460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Explotación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53512"/>
            <a:ext cx="4718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Elegir la mejor acción conocida (la de mayor Q).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Aprovecha lo aprendido, pero puede quedarse en una solución mediocre.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331720"/>
            <a:ext cx="512064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33172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51460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953512"/>
            <a:ext cx="4718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Probar una acción al azar.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Descubre caminos nuevos, imprescindible al principio cuando la tabla aún no sabe nada.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4526280"/>
            <a:ext cx="10515600" cy="105156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5262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Estrategia ε-greedy: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probabilidad ε exploro (acción al azar), con probabilidad 1−ε exploto (la mejor). ε empieza alto y baja con el tiempo.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Q-LEARNING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regla de actualización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002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Tras cada acción, corregimos la casilla Q(s,a) acercándola a lo que acabamos de observar: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05840" y="2331720"/>
            <a:ext cx="10149840" cy="105156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3317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Q(s,a) ← Q(s,a) + α · [ r + γ · max Q(s',·) − Q(s,a) ]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68680" y="3657600"/>
            <a:ext cx="338328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6576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8404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α (tasa de aprendizaje)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69848" y="4279392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Cuánto hacemos caso a la nueva experiencia.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80560" y="3657600"/>
            <a:ext cx="338328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36576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404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 + γ·max Q(s',·)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81728" y="4279392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'objetivo': recompensa + mejor valor futuro.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3657600"/>
            <a:ext cx="338328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92440" y="36576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21" name="Text 18"/>
          <p:cNvSpPr/>
          <p:nvPr/>
        </p:nvSpPr>
        <p:spPr>
          <a:xfrm>
            <a:off x="8293608" y="38404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corchete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93608" y="4279392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error: diferencia entre objetivo y estimación actual.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Q-LEARNING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agente aprende solo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Repetimos miles de episodios: actuar → observar → actualizar la tabla.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 principio la tabla está a cero y el agente va perdido (mucha exploración).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el tiempo Q converge: cada casilla refleja el valor real de esa acción.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política óptima aparece sola: en cada estado, elegir la acción de mayor Q.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Nadie le dijo el camino: lo descubrió a base de recompensas.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Deep Q-Networks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la tabla ya no cabe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DQN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problema de la tabla Q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tabla Q funciona con pocos estados. Pero, ¿y en problemas reales?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Atari de DeepMind usa la pantalla como estado: millones de píxeles posibles.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hay memoria para una tabla con una fila por cada imagen posible.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Solución: sustituir la tabla por una red neuronal que aproxima Q(s,a).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1920240"/>
            <a:ext cx="3611880" cy="13716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011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Tabla Q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2423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 → busca la fila → lee los Q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↓ no escala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3749040"/>
            <a:ext cx="3611880" cy="14630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840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neuronal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42519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 → red → Q de cada acción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DQN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una Deep Q-Network?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neuronal que recibe el estado y devuelve un valor Q por cada acción posible.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Sustituye la tabla: en vez de buscar una fila, la red calcula los Q sobre la marcha.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entrena con la misma idea de Bellman: acercar la predicción al objetivo r + γ·max Q(s').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Generaliza: estados parecidos dan valores parecidos, aunque no se hayan visto antes.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8016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9204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NEURONAL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50392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 a)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57600" y="4617720"/>
            <a:ext cx="1234440" cy="0"/>
          </a:xfrm>
          <a:prstGeom prst="line">
            <a:avLst/>
          </a:prstGeom>
          <a:noFill/>
          <a:ln w="3175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69480" y="4617720"/>
            <a:ext cx="1234440" cy="0"/>
          </a:xfrm>
          <a:prstGeom prst="line">
            <a:avLst/>
          </a:prstGeom>
          <a:noFill/>
          <a:ln w="31750">
            <a:solidFill>
              <a:srgbClr val="5B607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DQN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trucos que hacen que funcione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12064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512064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Repetición de experiencia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47183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Guardamos las transiciones (s, a, r, s') en una memoria y entrenamos con lotes aleatorios de ella.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Rompe la correlación entre pasos consecutivos y reutiliza la experiencia: aprende de forma más estable.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objetivo (target)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42032"/>
            <a:ext cx="47183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Usamos una segunda red, congelada, para calcular el objetivo r + γ·max Q(s').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actualiza cada cierto tiempo. Evita que el objetivo se mueva a la vez que la red, lo que desestabilizaría el entrenamiento.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Estos dos trucos fueron la clave del salto de DeepMind con los juegos de Atari (2015).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 aprende la tabla Q actuando, sin conocer el entorno (model-free).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 vs. explotación: la estrategia ε-greedy equilibra ambas y ε baja con el tiempo.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regla de actualización acerca Q(s,a) al objetivo r + γ·max Q(s') con tasa α.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hay demasiados estados, una red neuronal sustituye la tabla: eso es DQN.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Repetición de experiencia y red objetivo estabilizan el entrenamiento del DQN.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Q-Learning tabular: el agente aprende el camino solo.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Deep Q-Network: la red sustituye a la tabla.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 (M4 U3)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Despliegue de modelos de deep learning.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 experimentación a producción.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Guardar, servir y monitorizar el modelo.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por refuerzo II</dc:title>
  <dc:subject>PptxGenJS Presentation</dc:subject>
  <dc:creator>Ignacio López</dc:creator>
  <cp:lastModifiedBy>Ignacio López</cp:lastModifiedBy>
  <cp:revision>1</cp:revision>
  <dcterms:created xsi:type="dcterms:W3CDTF">2026-07-23T09:03:35Z</dcterms:created>
  <dcterms:modified xsi:type="dcterms:W3CDTF">2026-07-23T09:03:35Z</dcterms:modified>
</cp:coreProperties>
</file>