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Módulo 3 (GANs) la clase pasada. Hoy empezamos el Módulo 4: datos secuenciales y redes con memoria. Esta es la Parte I; en la Parte II veremos atención y transformers.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la clase. La Parte II (próxima) cubrirá encoder-decoder, atención y transformers.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redes recurrentes son la técnica de referencia para secuencias. El ejemplo del perro/hombre deja claro por qué una 'bolsa de palabras' pierde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NLU = comprensión; NLG = generación. Los modelos de lenguaje actuales hacen ambas.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BOW: sencillo pero disperso y sin orden. Embeddings: la mejor opción, se ven en el siguiente slide y en el Notebook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embeddings empiezan aleatorios y se ajustan en el entrenamiento. El Notebook 01 lo muestra en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notebook, ejecutar celda a celda con Shift+Enter, comentando cada representación.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'desenrollado' en el tiempo. La misma neurona se aplica en cada paso; lo que cambia es el estado oculto que se pasa hacia la derecha.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RNN son flexibles en la forma de entrada/salida. Seq2seq (encoder-decoder) se verá en detalle en la Parte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desvanecimiento del gradiente motiva las arquitecturas con puertas. Es el 'por qué' de la LSTM.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Puertas = mecanismo para controlar la memoria. No hace falta la matemática interna; sí la intuición de guardar/olvidar/exponer.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aproximadas (varían por aleatoriedad). El patrón es estable: las recurrentes ganan a la densa.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de los 4 mensajes clave y anuncio de la Parte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F9F"/>
          </a:solidFill>
          <a:ln/>
        </p:spPr>
      </p:sp>
      <p:pic>
        <p:nvPicPr>
          <p:cNvPr id="3" name="Image 0" descr="/sessions/zen-exciting-newton/mnt/outpu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371600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48640" y="2743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Redes recurrentes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66928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La memoria en las redes de neuronas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19  ·  Módulo 4 — Unidad 1  ·  Introducción al Deep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Hoy veremos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secuenciales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267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orden importa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807208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y representación del texto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palabras a los números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48456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630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950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densos con significado (word2vec)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89704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4714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neurona recurrente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7914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oculto: memoria paso a paso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5312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y GRU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56327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para no olvidar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989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final: </a:t>
            </a:r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notebooks prácticos en Google Colab.</a:t>
            </a:r>
            <a:endParaRPr lang="en-US" sz="1400" dirty="0"/>
          </a:p>
        </p:txBody>
      </p:sp>
      <p:pic>
        <p:nvPicPr>
          <p:cNvPr id="25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1.2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Datos secuenciales y NLP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importa; cómo convertir el texto en números.</a:t>
            </a:r>
            <a:endParaRPr lang="en-US" sz="1700" dirty="0"/>
          </a:p>
        </p:txBody>
      </p:sp>
      <p:pic>
        <p:nvPicPr>
          <p:cNvPr id="6" name="Image 0" descr="/sessions/zen-exciting-newton/mnt/outpu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09360"/>
            <a:ext cx="868680" cy="333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Cuando el orden importa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significado de una palabra depende de las que vienen antes y después: su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secuenciales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orden es parte de la información. Aparecen por todas partes: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583680" cy="841248"/>
          </a:xfrm>
          <a:prstGeom prst="roundRect">
            <a:avLst>
              <a:gd name="adj" fmla="val 8696"/>
            </a:avLst>
          </a:prstGeom>
          <a:solidFill>
            <a:srgbClr val="F4F6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575304"/>
            <a:ext cx="548640" cy="5486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35478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y habla (NLP)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6583680" cy="841248"/>
          </a:xfrm>
          <a:prstGeom prst="roundRect">
            <a:avLst>
              <a:gd name="adj" fmla="val 8696"/>
            </a:avLst>
          </a:prstGeom>
          <a:solidFill>
            <a:srgbClr val="F4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4535424"/>
            <a:ext cx="548640" cy="5486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535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507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846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Energía, sensores, finanzas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6583680" cy="841248"/>
          </a:xfrm>
          <a:prstGeom prst="roundRect">
            <a:avLst>
              <a:gd name="adj" fmla="val 8696"/>
            </a:avLst>
          </a:prstGeom>
          <a:solidFill>
            <a:srgbClr val="F4F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495544"/>
            <a:ext cx="548640" cy="54864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54681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una melodía nota a nota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17830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000F9F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frase, otro orden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26517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perro muerde al hombre"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hombre muerde al perro"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18120" y="4572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palabras. Significado opuesto. El orden lo cambia todo.</a:t>
            </a:r>
            <a:endParaRPr lang="en-US" sz="1250" dirty="0"/>
          </a:p>
        </p:txBody>
      </p:sp>
      <p:pic>
        <p:nvPicPr>
          <p:cNvPr id="24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NLP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Procesamiento del lenguaje natural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de la IA que permite a las máquinas entender y producir lenguaje humano.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00F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Entender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una secuencia de palabras y extraer su significado.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4355F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34290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datos o intenciones en texto en lenguaje natural.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automática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50292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50292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59612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entidades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559612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voz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5596128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4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palabras</a:t>
            </a:r>
            <a:endParaRPr lang="en-US" sz="1300" dirty="0"/>
          </a:p>
        </p:txBody>
      </p:sp>
      <p:pic>
        <p:nvPicPr>
          <p:cNvPr id="26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REPRESENTACIÓN DEL 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 texto a los números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solo entienden números. Primero tokenizamos; luego elegimos cómo representar cada palabra.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 gato duerme"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51960" y="2377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D9DDF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 5, 8]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955280" y="2377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000F9F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denso / disperso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/ Bag of Words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389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conteo: 1 si la palabra aparece.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6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Disperso (casi todo ceros)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6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Ignora el orden y el significado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000F9F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389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denso que la red aprende.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Compacto (pocas dimensiones)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Captura el significado</a:t>
            </a:r>
            <a:endParaRPr lang="en-US" sz="1400" dirty="0"/>
          </a:p>
        </p:txBody>
      </p:sp>
      <p:pic>
        <p:nvPicPr>
          <p:cNvPr id="22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EMBEDDINGS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Vectores con significado: word2vec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palabra se define por su compañía". Palabras que aparecen en contextos parecidos acaban con vectores cercanos — y esos vectores capturan relaciones.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000F9F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famosa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43800" y="24688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 − hombre + mujer ≈ reina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palabra, unos pocos números: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3959352"/>
            <a:ext cx="1577340" cy="32004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3959352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959352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000F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53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5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4526280"/>
            <a:ext cx="1497330" cy="320040"/>
          </a:xfrm>
          <a:prstGeom prst="roundRect">
            <a:avLst>
              <a:gd name="adj" fmla="val 11429"/>
            </a:avLst>
          </a:prstGeom>
          <a:solidFill>
            <a:srgbClr val="4355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4526280"/>
            <a:ext cx="537210" cy="320040"/>
          </a:xfrm>
          <a:prstGeom prst="roundRect">
            <a:avLst>
              <a:gd name="adj" fmla="val 11429"/>
            </a:avLst>
          </a:prstGeom>
          <a:solidFill>
            <a:srgbClr val="4355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4526280"/>
            <a:ext cx="1337310" cy="320040"/>
          </a:xfrm>
          <a:prstGeom prst="roundRect">
            <a:avLst>
              <a:gd name="adj" fmla="val 11429"/>
            </a:avLst>
          </a:prstGeom>
          <a:solidFill>
            <a:srgbClr val="4355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0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4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5093208"/>
            <a:ext cx="297180" cy="320040"/>
          </a:xfrm>
          <a:prstGeom prst="roundRect">
            <a:avLst>
              <a:gd name="adj" fmla="val 12308"/>
            </a:avLst>
          </a:prstGeom>
          <a:solidFill>
            <a:srgbClr val="FF647E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5093208"/>
            <a:ext cx="1577340" cy="320040"/>
          </a:xfrm>
          <a:prstGeom prst="roundRect">
            <a:avLst>
              <a:gd name="adj" fmla="val 11429"/>
            </a:avLst>
          </a:prstGeom>
          <a:solidFill>
            <a:srgbClr val="FF647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5093208"/>
            <a:ext cx="457200" cy="320040"/>
          </a:xfrm>
          <a:prstGeom prst="roundRect">
            <a:avLst>
              <a:gd name="adj" fmla="val 11429"/>
            </a:avLst>
          </a:prstGeom>
          <a:solidFill>
            <a:srgbClr val="FF647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 y perro tienen vectores parecidos; sofá queda lejos.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388620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F4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obtienen?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3800" y="44805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los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un peso más, 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reutilizan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preentrenados (word2vec, GloVe, fastText).</a:t>
            </a:r>
            <a:endParaRPr lang="en-US" sz="1400" dirty="0"/>
          </a:p>
        </p:txBody>
      </p:sp>
      <p:pic>
        <p:nvPicPr>
          <p:cNvPr id="25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Notebook 01 — Del texto a los números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haremos en Colab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301752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 frases con TextVectorization y ver la secuencia de enteros.</a:t>
            </a:r>
            <a:endParaRPr lang="en-US" sz="160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vector Bag of Words y comprobar que es disperso.</a:t>
            </a:r>
            <a:endParaRPr lang="en-US" sz="160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capa Embedding y observar el vector denso de una palabra.</a:t>
            </a:r>
            <a:endParaRPr lang="en-US" sz="1600" dirty="0"/>
          </a:p>
          <a:p>
            <a:pPr marL="190500" indent="-1905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qué los embeddings capturan significado.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01_Del_texto_a_los_numeros.ipynb  ·  se ejecuta entero en Google Colab</a:t>
            </a:r>
            <a:endParaRPr lang="en-US" sz="1300" dirty="0"/>
          </a:p>
        </p:txBody>
      </p:sp>
      <p:pic>
        <p:nvPicPr>
          <p:cNvPr id="10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Redes de neuronas recurrentes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neurona con memoria: estado oculto, LSTM y GRU.</a:t>
            </a:r>
            <a:endParaRPr lang="en-US" sz="1700" dirty="0"/>
          </a:p>
        </p:txBody>
      </p:sp>
      <p:pic>
        <p:nvPicPr>
          <p:cNvPr id="6" name="Image 0" descr="/sessions/zen-exciting-newton/mnt/outpu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09360"/>
            <a:ext cx="868680" cy="333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LA NEURONA RECURRENTE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neurona con memoria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neurona recurrente recorre la secuencia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 cada paso combina la entrada actual con un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oculto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 memoria) que arrastra información del pasado.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50292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D9DD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5029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xₜ₋₁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40233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00F9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4023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hₜ₋₁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23160" y="5029200"/>
            <a:ext cx="0" cy="-228600"/>
          </a:xfrm>
          <a:prstGeom prst="line">
            <a:avLst/>
          </a:prstGeom>
          <a:noFill/>
          <a:ln w="25400">
            <a:solidFill>
              <a:srgbClr val="67E3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4023360"/>
            <a:ext cx="0" cy="-502920"/>
          </a:xfrm>
          <a:prstGeom prst="line">
            <a:avLst/>
          </a:prstGeom>
          <a:noFill/>
          <a:ln w="25400">
            <a:solidFill>
              <a:srgbClr val="4355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288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4407408"/>
            <a:ext cx="14173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50292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D9DD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5029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4840" y="40233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00F9F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4023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0" y="5029200"/>
            <a:ext cx="0" cy="-228600"/>
          </a:xfrm>
          <a:prstGeom prst="line">
            <a:avLst/>
          </a:prstGeom>
          <a:noFill/>
          <a:ln w="25400">
            <a:solidFill>
              <a:srgbClr val="67E3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4023360"/>
            <a:ext cx="0" cy="-502920"/>
          </a:xfrm>
          <a:prstGeom prst="line">
            <a:avLst/>
          </a:prstGeom>
          <a:noFill/>
          <a:ln w="25400">
            <a:solidFill>
              <a:srgbClr val="4355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43484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4407408"/>
            <a:ext cx="1417320" cy="0"/>
          </a:xfrm>
          <a:prstGeom prst="line">
            <a:avLst/>
          </a:prstGeom>
          <a:noFill/>
          <a:ln w="3175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50292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D9DD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5029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xₜ₊₁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402336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00F9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40233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hₜ₊₁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635240" y="5029200"/>
            <a:ext cx="0" cy="-228600"/>
          </a:xfrm>
          <a:prstGeom prst="line">
            <a:avLst/>
          </a:prstGeom>
          <a:noFill/>
          <a:ln w="25400">
            <a:solidFill>
              <a:srgbClr val="67E3D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4023360"/>
            <a:ext cx="0" cy="-502920"/>
          </a:xfrm>
          <a:prstGeom prst="line">
            <a:avLst/>
          </a:prstGeom>
          <a:noFill/>
          <a:ln w="25400">
            <a:solidFill>
              <a:srgbClr val="4355F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0408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3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5897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oculto (→ coral) viaja de un paso al siguiente: eso es la memoria.</a:t>
            </a:r>
            <a:endParaRPr lang="en-US" sz="1300" dirty="0"/>
          </a:p>
        </p:txBody>
      </p:sp>
      <p:pic>
        <p:nvPicPr>
          <p:cNvPr id="29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CONFIGURACIONES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Entradas y salidas: cuatro formas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450592"/>
            <a:ext cx="256032" cy="256032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Muchos → uno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sentimiento: una frase, una etiqueta.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647688" y="2450592"/>
            <a:ext cx="256032" cy="256032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55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Uno → muchos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47688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una imagen: una entrada, una frase.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4370832"/>
            <a:ext cx="256032" cy="256032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4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Muchos → muchos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cada palabra (sincronizado).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7688" y="4370832"/>
            <a:ext cx="256032" cy="256032"/>
          </a:xfrm>
          <a:prstGeom prst="ellipse">
            <a:avLst/>
          </a:prstGeom>
          <a:solidFill>
            <a:srgbClr val="3B3B7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3B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Seq2seq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47688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Traducción: leer todo y luego generar (encoder-decoder).</a:t>
            </a:r>
            <a:endParaRPr lang="en-US" sz="1450" dirty="0"/>
          </a:p>
        </p:txBody>
      </p:sp>
      <p:pic>
        <p:nvPicPr>
          <p:cNvPr id="20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memoria corta: el gradiente se desvanece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secuencias largas, la SimpleRNN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6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información del principio se diluye paso a paso hasta desaparecer.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 del primer elemento a lo largo de la secuencia: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12848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7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785616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8384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2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58384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31152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31152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76688" y="32918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000F9F">
              <a:alpha val="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76688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se apaga. </a:t>
            </a:r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añadir puertas que decidan qué recordar y qué olvidar → LSTM y GRU.</a:t>
            </a:r>
            <a:endParaRPr lang="en-US" sz="1600" dirty="0"/>
          </a:p>
        </p:txBody>
      </p:sp>
      <p:pic>
        <p:nvPicPr>
          <p:cNvPr id="21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MEMORIA CON PUERTAS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LSTM y GRU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000F9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LSTM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 de memoria + 3 puertas:</a:t>
            </a:r>
            <a:endParaRPr lang="en-US" sz="1450" dirty="0"/>
          </a:p>
          <a:p>
            <a:pPr marL="190500" indent="-1905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— qué dejar entrar</a:t>
            </a:r>
            <a:endParaRPr lang="en-US" sz="1450" dirty="0"/>
          </a:p>
          <a:p>
            <a:pPr marL="190500" indent="-1905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Olvido — qué descartar</a:t>
            </a:r>
            <a:endParaRPr lang="en-US" sz="1450" dirty="0"/>
          </a:p>
          <a:p>
            <a:pPr marL="190500" indent="-1905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— qué exponer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potente y usada.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4F6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GRU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3796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5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Unit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simplificada, 2 puertas:</a:t>
            </a:r>
            <a:endParaRPr lang="en-US" sz="1450" dirty="0"/>
          </a:p>
          <a:p>
            <a:pPr marL="190500" indent="-1905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— cuánto pasado conservar</a:t>
            </a:r>
            <a:endParaRPr lang="en-US" sz="1450" dirty="0"/>
          </a:p>
          <a:p>
            <a:pPr marL="190500" indent="-1905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Reinicio — cuánto pasado ignorar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5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 y con menos parámetros; rinde parecido a la LSTM.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Keras se usan igual que SimpleRNN: basta cambiar la capa.</a:t>
            </a:r>
            <a:endParaRPr lang="en-US" sz="1400" dirty="0"/>
          </a:p>
        </p:txBody>
      </p:sp>
      <p:pic>
        <p:nvPicPr>
          <p:cNvPr id="13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 </a:t>
            </a:r>
            <a:pPr indent="0" marL="0">
              <a:buNone/>
            </a:pPr>
            <a:r>
              <a:rPr lang="en-US" sz="1300" b="1" spc="200" kern="0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Notebook 02 — La memoria en acción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731520" cy="73152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9718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que depende del orden: ¿hay dos valores grandes seguidos?</a:t>
            </a:r>
            <a:endParaRPr lang="en-US" sz="1500" dirty="0"/>
          </a:p>
          <a:p>
            <a:pPr marL="190500" indent="-1905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 una red densa (sin memoria) con SimpleRNN, LSTM y GRU.</a:t>
            </a:r>
            <a:endParaRPr lang="en-US" sz="1500" dirty="0"/>
          </a:p>
          <a:p>
            <a:pPr marL="190500" indent="-1905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cómo la memoria marca la diferencia.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223760" y="1920240"/>
            <a:ext cx="4389120" cy="3657600"/>
          </a:xfrm>
          <a:prstGeom prst="roundRect">
            <a:avLst>
              <a:gd name="adj" fmla="val 3000"/>
            </a:avLst>
          </a:prstGeom>
          <a:solidFill>
            <a:srgbClr val="000F9F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obtenida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densa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696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3273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52360" y="38496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66960" y="3849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2360" y="44256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0" y="44256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52360" y="50292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sin memoria se queda muy por detrás.</a:t>
            </a:r>
            <a:endParaRPr lang="en-US" sz="1250" dirty="0"/>
          </a:p>
        </p:txBody>
      </p:sp>
      <p:pic>
        <p:nvPicPr>
          <p:cNvPr id="20" name="Image 0" descr="/sessions/zen-exciting-newton/mnt/outputs/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27648"/>
            <a:ext cx="868680" cy="3337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327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zen-exciting-newton/mnt/outpu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280160" cy="4910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 resumen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24688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secuenciales necesitan memoria: el orden importa.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convierte en números; los embeddings capturan significado.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neurona recurrente arrastra un estado oculto de paso en paso.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D9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y GRU añaden puertas para no olvidar en secuencias largas.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4355F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— Parte II: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encoder-decoder, atención, transformers y análisis de sentimiento.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2026-07-16T10:52:20Z</dcterms:created>
  <dcterms:modified xsi:type="dcterms:W3CDTF">2026-07-16T10:52:20Z</dcterms:modified>
</cp:coreProperties>
</file>