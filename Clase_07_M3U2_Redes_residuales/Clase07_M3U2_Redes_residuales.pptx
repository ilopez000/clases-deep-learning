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97680"/>
            <a:ext cx="3291840" cy="3291840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47E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73736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24028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de neuronas residuales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594360" y="3794760"/>
            <a:ext cx="3108960" cy="6400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9319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7 · Módulo 3 — Unidad 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45262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muy profundas y transferencia de aprendizaje</a:t>
            </a:r>
            <a:endParaRPr lang="en-US" sz="1600" dirty="0"/>
          </a:p>
        </p:txBody>
      </p:sp>
      <p:pic>
        <p:nvPicPr>
          <p:cNvPr id="10" name="Image 1" descr="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Bienvenida y objetivos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6675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Ya construimos CNN para ver imágenes. Pero, ¿qué pasa cuando la red es MUY profunda?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resolvemos ese problema con las redes residuales (ResNet).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Y aprenderemos a reutilizar redes ya entrenadas: transfer learning.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955280" y="1691640"/>
            <a:ext cx="3474720" cy="33832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0" name="Text 7"/>
          <p:cNvSpPr/>
          <p:nvPr/>
        </p:nvSpPr>
        <p:spPr>
          <a:xfrm>
            <a:off x="818388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veremos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183880" y="246888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  Redes residuales (ResNet)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 Transfer learning</a:t>
            </a:r>
            <a:endParaRPr lang="en-US" sz="15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salto · bloque residual · ResNet50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residuales (ResNet)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Cómo entrenar redes muy profundas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 RESNET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problema: el gradiente se desvanece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Para extraer información más compleja necesitamos más capas (más profundidad).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Pero al propagar el error hacia atrás en redes muy profundas, el gradiente se hace cada vez más pequeño hasta casi desaparecer.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Si el gradiente es casi 0, los pesos dejan de actualizarse: el entrenamiento se estanca.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activación ReLU lo mitiga, pero no lo resuelve del todo en redes muy profundas.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680960" y="2551176"/>
            <a:ext cx="1280160" cy="1280160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10" name="Shape 7"/>
          <p:cNvSpPr/>
          <p:nvPr/>
        </p:nvSpPr>
        <p:spPr>
          <a:xfrm>
            <a:off x="8430768" y="2756916"/>
            <a:ext cx="1051560" cy="1051560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11" name="Shape 8"/>
          <p:cNvSpPr/>
          <p:nvPr/>
        </p:nvSpPr>
        <p:spPr>
          <a:xfrm>
            <a:off x="9180576" y="2921508"/>
            <a:ext cx="868680" cy="868680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12" name="Shape 9"/>
          <p:cNvSpPr/>
          <p:nvPr/>
        </p:nvSpPr>
        <p:spPr>
          <a:xfrm>
            <a:off x="9930384" y="3061411"/>
            <a:ext cx="713232" cy="713232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13" name="Shape 10"/>
          <p:cNvSpPr/>
          <p:nvPr/>
        </p:nvSpPr>
        <p:spPr>
          <a:xfrm>
            <a:off x="10680192" y="3176626"/>
            <a:ext cx="585216" cy="585216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14" name="Shape 11"/>
          <p:cNvSpPr/>
          <p:nvPr/>
        </p:nvSpPr>
        <p:spPr>
          <a:xfrm>
            <a:off x="7772400" y="4572000"/>
            <a:ext cx="3566160" cy="0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7589520" y="4663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gradiente se encoge capa a capa →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 RESNET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idea ResNet: conexiones de salto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ResNet (He, 2016) añade atajos (skip connections) que saltan capas y dejan pasar el gradiente.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371600" y="31089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17320" y="31089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Entrada x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023360" y="310896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69080" y="3108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Capas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 F(x)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58000" y="3200400"/>
            <a:ext cx="731520" cy="731520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+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8229600" y="31089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67E3D4"/>
          </a:solidFill>
          <a:ln w="12700">
            <a:solidFill>
              <a:srgbClr val="67E3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75320" y="31089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Salida F(x)+x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383280" y="3566160"/>
            <a:ext cx="64008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217920" y="3566160"/>
            <a:ext cx="64008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589520" y="3566160"/>
            <a:ext cx="64008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2377440" y="3108960"/>
            <a:ext cx="0" cy="-731520"/>
          </a:xfrm>
          <a:prstGeom prst="line">
            <a:avLst/>
          </a:prstGeom>
          <a:noFill/>
          <a:ln w="31750">
            <a:solidFill>
              <a:srgbClr val="FF647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377440" y="2377440"/>
            <a:ext cx="4846320" cy="0"/>
          </a:xfrm>
          <a:prstGeom prst="line">
            <a:avLst/>
          </a:prstGeom>
          <a:noFill/>
          <a:ln w="31750">
            <a:solidFill>
              <a:srgbClr val="FF647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223760" y="2377440"/>
            <a:ext cx="0" cy="822960"/>
          </a:xfrm>
          <a:prstGeom prst="line">
            <a:avLst/>
          </a:prstGeom>
          <a:noFill/>
          <a:ln w="31750">
            <a:solidFill>
              <a:srgbClr val="FF647E"/>
            </a:solidFill>
            <a:prstDash val="solid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237744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atajo (skip): la entrada se suma a la salida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68680" y="448056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bloque aprende el residuo F(x); el atajo garantiza que el gradiente siempre tenga un camino directo.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Permite entrenar redes de decenas o cientos de capas sin que el gradiente desaparezca.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 RESNET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bloque residual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Estructura básica (ResNet v1): dos convoluciones 3×3 con normalización, ReLU y la suma del atajo.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188720" y="228600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34440" y="22860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 3×3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91840" y="2880360"/>
            <a:ext cx="0" cy="18288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88720" y="306324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34440" y="30632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BatchNorm + ReLU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91840" y="3657600"/>
            <a:ext cx="0" cy="18288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384048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34440" y="38404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 3×3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91840" y="4434840"/>
            <a:ext cx="0" cy="18288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88720" y="461772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34440" y="46177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BatchNorm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926080" y="5486400"/>
            <a:ext cx="731520" cy="594360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21" name="Text 18"/>
          <p:cNvSpPr/>
          <p:nvPr/>
        </p:nvSpPr>
        <p:spPr>
          <a:xfrm>
            <a:off x="2926080" y="54864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+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3291840" y="5440680"/>
            <a:ext cx="0" cy="4572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77840" y="2331720"/>
            <a:ext cx="0" cy="3456432"/>
          </a:xfrm>
          <a:prstGeom prst="line">
            <a:avLst/>
          </a:prstGeom>
          <a:noFill/>
          <a:ln w="31750">
            <a:solidFill>
              <a:srgbClr val="FF647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77840" y="5788152"/>
            <a:ext cx="-1920240" cy="0"/>
          </a:xfrm>
          <a:prstGeom prst="line">
            <a:avLst/>
          </a:prstGeom>
          <a:noFill/>
          <a:ln w="31750">
            <a:solidFill>
              <a:srgbClr val="FF647E"/>
            </a:solidFill>
            <a:prstDash val="solid"/>
            <a:tailEnd type="triangle"/>
          </a:ln>
        </p:spPr>
      </p:sp>
      <p:sp>
        <p:nvSpPr>
          <p:cNvPr id="25" name="Text 22"/>
          <p:cNvSpPr/>
          <p:nvPr/>
        </p:nvSpPr>
        <p:spPr>
          <a:xfrm>
            <a:off x="566928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atajo (x)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223760" y="2286000"/>
            <a:ext cx="42976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Keras NO existe como capa: se construye con la API funcional (no Sequential).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bloque combina dos capas y tres operaciones (2 ReLU + 1 suma).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ResNet de 32 capas puede tener ~141 millones de coeficientes.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Versiones: v1 (normalización tras la conv) y v2 (normalización antes de la conv).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Transfer learning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Reutilizar lo que otra red ya aprendió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TRANSFER LEARNING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¿Qué es la transferencia de aprendizaje?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Reutilizar el aprendizaje de una tarea para resolver otra distinta.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imágenes funciona muy bien: extraer características (bordes, formas, texturas) es similar en casi cualquier tarea.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reutiliza la sección de extracción de una red ya entrenada y se sustituye solo la sección de clasificación.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Ahorra tiempo, datos y cómputo: no entrenamos desde cero.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TRANSFER LEARNING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Cómo se aplica con una red preentrenada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Mantenemos la extracción de una red preentrenada (p. ej. ResNet50, 50 capas) y añadimos nuestra cabeza de clasificación.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2286000"/>
            <a:ext cx="4572000" cy="3291840"/>
          </a:xfrm>
          <a:prstGeom prst="rect">
            <a:avLst/>
          </a:prstGeom>
          <a:solidFill>
            <a:srgbClr val="F4F6FF"/>
          </a:solidFill>
          <a:ln w="19050">
            <a:solidFill>
              <a:srgbClr val="5B6079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1005840" y="2377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Base preentrenada (congelada)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97280" y="288036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3000" y="28803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ResNet50: extracción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97280" y="36576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Pesos ya aprendidos sobre millones de imágenes; no se reentrenan.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40680" y="3931920"/>
            <a:ext cx="64008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172200" y="2286000"/>
            <a:ext cx="5212080" cy="329184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2377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Cabeza nueva (la entrenamos)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0" y="2834640"/>
            <a:ext cx="4754880" cy="438912"/>
          </a:xfrm>
          <a:prstGeom prst="roundRect">
            <a:avLst>
              <a:gd name="adj" fmla="val 16667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46520" y="283464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GlobalAveragePooling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0" y="3364992"/>
            <a:ext cx="4754880" cy="438912"/>
          </a:xfrm>
          <a:prstGeom prst="roundRect">
            <a:avLst>
              <a:gd name="adj" fmla="val 16667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46520" y="3364992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Flatten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0" y="3895344"/>
            <a:ext cx="4754880" cy="438912"/>
          </a:xfrm>
          <a:prstGeom prst="roundRect">
            <a:avLst>
              <a:gd name="adj" fmla="val 16667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46520" y="3895344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Dense 512 (ReLU)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00800" y="4425696"/>
            <a:ext cx="4754880" cy="438912"/>
          </a:xfrm>
          <a:prstGeom prst="roundRect">
            <a:avLst>
              <a:gd name="adj" fmla="val 16667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46520" y="442569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Dropout 0.6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400800" y="4956048"/>
            <a:ext cx="4754880" cy="438912"/>
          </a:xfrm>
          <a:prstGeom prst="roundRect">
            <a:avLst>
              <a:gd name="adj" fmla="val 16667"/>
            </a:avLst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46520" y="495604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Dense 3 (Softmax)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3 · UNIDAD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Ventajas y resumen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1208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2120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20116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ResNet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450592"/>
            <a:ext cx="48097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Conexiones de salto que evitan el desvanecimiento del gradiente: permiten redes muy profundas.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12064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1828800"/>
            <a:ext cx="512064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6464808" y="201168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Transfer learning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64808" y="2450592"/>
            <a:ext cx="47183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Reutiliza una red preentrenada y solo entrena la cabeza: rápido y con pocos datos.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" y="384048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bloque residual aprende el residuo F(x) y suma la entrada (F(x)+x).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construye con la API funcional de Keras; existen versiones v1 y v2.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 ResNet50 preentrenada + una cabeza propia clasificamos con muy poco esfuerzo.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3 · UNIDAD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Práctica y próxima clase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12080" cy="3840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212080" cy="128016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Ahora: notebooks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269748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01 · El bloque residual con la API funcional de Keras.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02 · Transfer learning: reutilizar una red ya entrenada.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Ábrelos en Colab y ejecuta cada celda.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120640" cy="38404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3" name="Shape 10"/>
          <p:cNvSpPr/>
          <p:nvPr/>
        </p:nvSpPr>
        <p:spPr>
          <a:xfrm>
            <a:off x="6263640" y="1828800"/>
            <a:ext cx="5120640" cy="128016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Próxima clase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26974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3 · Unidad 3: Redes generativas adversarias (GANs).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Cómo una red aprende a crear imágenes nuevas.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Generador vs. discriminador.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64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280160"/>
            <a:ext cx="3840480" cy="3840480"/>
          </a:xfrm>
          <a:prstGeom prst="ellipse">
            <a:avLst/>
          </a:prstGeom>
          <a:solidFill>
            <a:srgbClr val="FF9BA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Nos vemos en la próxima videoclase.</a:t>
            </a:r>
            <a:endParaRPr lang="en-US" sz="2000" dirty="0"/>
          </a:p>
        </p:txBody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6263640"/>
            <a:ext cx="132588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7 - M3U2 Redes residuales</dc:title>
  <dc:subject>PptxGenJS Presentation</dc:subject>
  <dc:creator>Ignacio López</dc:creator>
  <cp:lastModifiedBy>Ignacio López</cp:lastModifiedBy>
  <cp:revision>1</cp:revision>
  <dcterms:created xsi:type="dcterms:W3CDTF">2026-06-09T13:06:01Z</dcterms:created>
  <dcterms:modified xsi:type="dcterms:W3CDTF">2026-06-09T13:06:01Z</dcterms:modified>
</cp:coreProperties>
</file>