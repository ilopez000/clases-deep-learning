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297680"/>
            <a:ext cx="3291840" cy="3291840"/>
          </a:xfrm>
          <a:prstGeom prst="ellipse">
            <a:avLst/>
          </a:prstGeom>
          <a:solidFill>
            <a:srgbClr val="4355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647E"/>
          </a:solidFill>
          <a:ln/>
        </p:spPr>
      </p:sp>
      <p:pic>
        <p:nvPicPr>
          <p:cNvPr id="4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737360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1828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2240280"/>
            <a:ext cx="1078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Redes Generativas Adversarias II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594360" y="3794760"/>
            <a:ext cx="3108960" cy="64008"/>
          </a:xfrm>
          <a:prstGeom prst="rect">
            <a:avLst/>
          </a:prstGeom>
          <a:solidFill>
            <a:srgbClr val="67E3D4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39319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9BAC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Módulo 3 — Unidad 3 (Parte II)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8640" y="45262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Generar imágenes: la DGAN y los tipos de GAN</a:t>
            </a:r>
            <a:endParaRPr lang="en-US" sz="1600" dirty="0"/>
          </a:p>
        </p:txBody>
      </p:sp>
      <p:pic>
        <p:nvPicPr>
          <p:cNvPr id="10" name="Image 1" descr="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M3 · U3 (II)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Repaso y objetivos de hoy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691640"/>
            <a:ext cx="66751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En GANs I vimos la idea: un generador que crea falsos y un discriminador que los detecta, compitiendo.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Hoy damos el salto a las IMÁGENES: construimos una DGAN y vemos los tipos de GAN.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955280" y="1691640"/>
            <a:ext cx="3474720" cy="3657600"/>
          </a:xfrm>
          <a:prstGeom prst="rect">
            <a:avLst/>
          </a:prstGeom>
          <a:solidFill>
            <a:srgbClr val="000F9F"/>
          </a:solidFill>
          <a:ln/>
        </p:spPr>
      </p:sp>
      <p:sp>
        <p:nvSpPr>
          <p:cNvPr id="10" name="Text 7"/>
          <p:cNvSpPr/>
          <p:nvPr/>
        </p:nvSpPr>
        <p:spPr>
          <a:xfrm>
            <a:off x="8183880" y="1920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Hoy veremos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183880" y="2468880"/>
            <a:ext cx="3108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Conv2DTranspose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red generadora y la discriminadora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bucle de entrenamiento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Tipos: SGAN, cGAN, CycleGAN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3.3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Construir una DGAN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41248" y="5029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Una GAN profunda que genera imágenes</a:t>
            </a:r>
            <a:endParaRPr lang="en-US" sz="1800" dirty="0"/>
          </a:p>
        </p:txBody>
      </p:sp>
      <p:pic>
        <p:nvPicPr>
          <p:cNvPr id="7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3.3 DGAN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De ruido a imagen: Conv2DTranspose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783080"/>
            <a:ext cx="6400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convolución REDUCE la imagen. Para generar necesitamos lo contrario: AMPLIARLA.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Conv2DTranspose (convolución transpuesta) aumenta el alto y el ancho.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Con stride 2, duplica el tamaño en cada paso: 2×2 → 4×4 → 8×8 …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Así el generador construye una imagen a partir de un vector de ruido.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863840" y="2834640"/>
            <a:ext cx="640080" cy="640080"/>
          </a:xfrm>
          <a:prstGeom prst="rect">
            <a:avLst/>
          </a:prstGeom>
          <a:solidFill>
            <a:srgbClr val="000F9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63840" y="35204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2×2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8595360" y="3154680"/>
            <a:ext cx="365760" cy="0"/>
          </a:xfrm>
          <a:prstGeom prst="line">
            <a:avLst/>
          </a:prstGeom>
          <a:noFill/>
          <a:ln w="25400">
            <a:solidFill>
              <a:srgbClr val="FF647E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9052560" y="2514600"/>
            <a:ext cx="1280160" cy="1280160"/>
          </a:xfrm>
          <a:prstGeom prst="rect">
            <a:avLst/>
          </a:prstGeom>
          <a:solidFill>
            <a:srgbClr val="4355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052560" y="3840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4×4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10424160" y="3154680"/>
            <a:ext cx="274320" cy="0"/>
          </a:xfrm>
          <a:prstGeom prst="line">
            <a:avLst/>
          </a:prstGeom>
          <a:noFill/>
          <a:ln w="25400">
            <a:solidFill>
              <a:srgbClr val="FF647E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10789920" y="2194560"/>
            <a:ext cx="1005840" cy="1005840"/>
          </a:xfrm>
          <a:prstGeom prst="rect">
            <a:avLst/>
          </a:prstGeom>
          <a:solidFill>
            <a:srgbClr val="67E3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789920" y="32461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8×8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680960" y="42976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cada Conv2DTranspose (stride 2) duplica el tamaño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3.3 DGAN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red generadora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4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5544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Toma un vector de ruido y lo convierte en una imagen.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85800" y="265176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5B6079"/>
          </a:solidFill>
          <a:ln w="12700">
            <a:solidFill>
              <a:srgbClr val="5B607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265176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Ruido Z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697480" y="3154680"/>
            <a:ext cx="274320" cy="0"/>
          </a:xfrm>
          <a:prstGeom prst="line">
            <a:avLst/>
          </a:prstGeom>
          <a:noFill/>
          <a:ln w="25400">
            <a:solidFill>
              <a:srgbClr val="000F9F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971800" y="265176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000F9F"/>
          </a:solidFill>
          <a:ln w="12700">
            <a:solidFill>
              <a:srgbClr val="000F9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017520" y="265176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Dense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983480" y="3154680"/>
            <a:ext cx="274320" cy="0"/>
          </a:xfrm>
          <a:prstGeom prst="line">
            <a:avLst/>
          </a:prstGeom>
          <a:noFill/>
          <a:ln w="25400">
            <a:solidFill>
              <a:srgbClr val="000F9F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5257800" y="265176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03520" y="265176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Reshape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269480" y="3154680"/>
            <a:ext cx="274320" cy="0"/>
          </a:xfrm>
          <a:prstGeom prst="line">
            <a:avLst/>
          </a:prstGeom>
          <a:noFill/>
          <a:ln w="25400">
            <a:solidFill>
              <a:srgbClr val="000F9F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7543800" y="265176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000F9F"/>
          </a:solidFill>
          <a:ln w="12700">
            <a:solidFill>
              <a:srgbClr val="000F9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89520" y="265176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Conv2DTranspose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(×2)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9555480" y="3154680"/>
            <a:ext cx="274320" cy="0"/>
          </a:xfrm>
          <a:prstGeom prst="line">
            <a:avLst/>
          </a:prstGeom>
          <a:noFill/>
          <a:ln w="25400">
            <a:solidFill>
              <a:srgbClr val="000F9F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9829800" y="265176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67E3D4"/>
          </a:solidFill>
          <a:ln w="12700">
            <a:solidFill>
              <a:srgbClr val="67E3D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875520" y="265176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Imagen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68680" y="402336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Dense + Reshape: el ruido se proyecta en una pequeña imagen con muchos canales.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Conv2DTranspose la va ampliando hasta el tamaño final.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Entre medias: BatchNormalization y LeakyReLU (estabilizan el entrenamiento).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Activación final: sigmoide (o tanh) para dejar los píxeles en el rango correcto.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3.3 DGAN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red discriminadora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5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783080"/>
            <a:ext cx="6400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Es una CNN de clasificación binaria: recibe una imagen y dice si es real o falsa.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Capas Conv2D (con stride 2 para reducir) + LeakyReLU.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Flatten y una Dense con activación sigmoide: probabilidad de ser real.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Recibe DOS fuentes: imágenes reales del dataset e imágenes falsas del generador.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680960" y="2194560"/>
            <a:ext cx="3840480" cy="640080"/>
          </a:xfrm>
          <a:prstGeom prst="roundRect">
            <a:avLst>
              <a:gd name="adj" fmla="val 11429"/>
            </a:avLst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26680" y="21945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Imagen (real o falsa)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680960" y="3017520"/>
            <a:ext cx="3840480" cy="640080"/>
          </a:xfrm>
          <a:prstGeom prst="roundRect">
            <a:avLst>
              <a:gd name="adj" fmla="val 11429"/>
            </a:avLst>
          </a:prstGeom>
          <a:solidFill>
            <a:srgbClr val="000F9F"/>
          </a:solidFill>
          <a:ln w="12700">
            <a:solidFill>
              <a:srgbClr val="000F9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26680" y="30175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Conv2D + LeakyReLU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680960" y="3840480"/>
            <a:ext cx="3840480" cy="640080"/>
          </a:xfrm>
          <a:prstGeom prst="roundRect">
            <a:avLst>
              <a:gd name="adj" fmla="val 11429"/>
            </a:avLst>
          </a:prstGeom>
          <a:solidFill>
            <a:srgbClr val="67E3D4"/>
          </a:solidFill>
          <a:ln w="12700">
            <a:solidFill>
              <a:srgbClr val="67E3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26680" y="38404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Flatten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680960" y="4663440"/>
            <a:ext cx="3840480" cy="640080"/>
          </a:xfrm>
          <a:prstGeom prst="roundRect">
            <a:avLst>
              <a:gd name="adj" fmla="val 11429"/>
            </a:avLst>
          </a:prstGeom>
          <a:solidFill>
            <a:srgbClr val="FF647E"/>
          </a:solidFill>
          <a:ln w="12700">
            <a:solidFill>
              <a:srgbClr val="FF647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26680" y="46634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Dense sigmoide → 0/1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9601200" y="2834640"/>
            <a:ext cx="0" cy="182880"/>
          </a:xfrm>
          <a:prstGeom prst="line">
            <a:avLst/>
          </a:prstGeom>
          <a:noFill/>
          <a:ln w="25400">
            <a:solidFill>
              <a:srgbClr val="5B6079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9601200" y="3657600"/>
            <a:ext cx="0" cy="182880"/>
          </a:xfrm>
          <a:prstGeom prst="line">
            <a:avLst/>
          </a:prstGeom>
          <a:noFill/>
          <a:ln w="25400">
            <a:solidFill>
              <a:srgbClr val="5B6079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9601200" y="4480560"/>
            <a:ext cx="0" cy="182880"/>
          </a:xfrm>
          <a:prstGeom prst="line">
            <a:avLst/>
          </a:prstGeom>
          <a:noFill/>
          <a:ln w="25400">
            <a:solidFill>
              <a:srgbClr val="5B6079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3.3 DGAN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bucle de entrenamiento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6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2103120"/>
            <a:ext cx="685800" cy="685800"/>
          </a:xfrm>
          <a:prstGeom prst="ellipse">
            <a:avLst/>
          </a:prstGeom>
          <a:solidFill>
            <a:srgbClr val="FF647E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2103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783080" y="21031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Generar falsas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035040" y="210312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generador crea un lote de imágenes a partir de ruido.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207008" y="2788920"/>
            <a:ext cx="0" cy="274320"/>
          </a:xfrm>
          <a:prstGeom prst="line">
            <a:avLst/>
          </a:prstGeom>
          <a:noFill/>
          <a:ln w="25400">
            <a:solidFill>
              <a:srgbClr val="D9DD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68680" y="3063240"/>
            <a:ext cx="685800" cy="685800"/>
          </a:xfrm>
          <a:prstGeom prst="ellipse">
            <a:avLst/>
          </a:prstGeom>
          <a:solidFill>
            <a:srgbClr val="000F9F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3063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783080" y="30632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Entrenar el discriminador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035040" y="306324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Con imágenes reales (etiqueta 1) y falsas (etiqueta 0).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1207008" y="3749040"/>
            <a:ext cx="0" cy="274320"/>
          </a:xfrm>
          <a:prstGeom prst="line">
            <a:avLst/>
          </a:prstGeom>
          <a:noFill/>
          <a:ln w="25400">
            <a:solidFill>
              <a:srgbClr val="D9DD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68680" y="4023360"/>
            <a:ext cx="685800" cy="685800"/>
          </a:xfrm>
          <a:prstGeom prst="ellipse">
            <a:avLst/>
          </a:prstGeom>
          <a:solidFill>
            <a:srgbClr val="FF647E"/>
          </a:solidFill>
          <a:ln/>
        </p:spPr>
      </p:sp>
      <p:sp>
        <p:nvSpPr>
          <p:cNvPr id="19" name="Text 16"/>
          <p:cNvSpPr/>
          <p:nvPr/>
        </p:nvSpPr>
        <p:spPr>
          <a:xfrm>
            <a:off x="868680" y="4023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1783080" y="40233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Entrenar el generador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035040" y="402336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Para que el discriminador clasifique sus falsas como reales.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1207008" y="4709160"/>
            <a:ext cx="0" cy="274320"/>
          </a:xfrm>
          <a:prstGeom prst="line">
            <a:avLst/>
          </a:prstGeom>
          <a:noFill/>
          <a:ln w="25400">
            <a:solidFill>
              <a:srgbClr val="D9DD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68680" y="4983480"/>
            <a:ext cx="685800" cy="685800"/>
          </a:xfrm>
          <a:prstGeom prst="ellipse">
            <a:avLst/>
          </a:prstGeom>
          <a:solidFill>
            <a:srgbClr val="000F9F"/>
          </a:solidFill>
          <a:ln/>
        </p:spPr>
      </p:sp>
      <p:sp>
        <p:nvSpPr>
          <p:cNvPr id="24" name="Text 21"/>
          <p:cNvSpPr/>
          <p:nvPr/>
        </p:nvSpPr>
        <p:spPr>
          <a:xfrm>
            <a:off x="868680" y="4983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1783080" y="49834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Repetir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035040" y="498348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Época tras época: ambos mejoran a la vez.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3.3 DGAN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Entrenar una GAN es delicado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7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1920240"/>
            <a:ext cx="3383280" cy="310896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1920240"/>
            <a:ext cx="3383280" cy="1097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10" name="Text 7"/>
          <p:cNvSpPr/>
          <p:nvPr/>
        </p:nvSpPr>
        <p:spPr>
          <a:xfrm>
            <a:off x="1069848" y="210312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Equilibrio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69848" y="2542032"/>
            <a:ext cx="2980944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Si el discriminador gana demasiado, el generador deja de aprender (y al revés).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Hay que mantener la competición equilibrada.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434840" y="1920240"/>
            <a:ext cx="3383280" cy="310896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34840" y="1920240"/>
            <a:ext cx="3383280" cy="109728"/>
          </a:xfrm>
          <a:prstGeom prst="rect">
            <a:avLst/>
          </a:prstGeom>
          <a:solidFill>
            <a:srgbClr val="4355FF"/>
          </a:solidFill>
          <a:ln/>
        </p:spPr>
      </p:sp>
      <p:sp>
        <p:nvSpPr>
          <p:cNvPr id="14" name="Text 11"/>
          <p:cNvSpPr/>
          <p:nvPr/>
        </p:nvSpPr>
        <p:spPr>
          <a:xfrm>
            <a:off x="4636008" y="210312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Colapso de modo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636008" y="2542032"/>
            <a:ext cx="2980944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generador produce siempre lo mismo (una sola variante) porque engaña con ello.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Pierde diversidad.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001000" y="1920240"/>
            <a:ext cx="3383280" cy="310896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01000" y="1920240"/>
            <a:ext cx="3383280" cy="109728"/>
          </a:xfrm>
          <a:prstGeom prst="rect">
            <a:avLst/>
          </a:prstGeom>
          <a:solidFill>
            <a:srgbClr val="67E3D4"/>
          </a:solidFill>
          <a:ln/>
        </p:spPr>
      </p:sp>
      <p:sp>
        <p:nvSpPr>
          <p:cNvPr id="18" name="Text 15"/>
          <p:cNvSpPr/>
          <p:nvPr/>
        </p:nvSpPr>
        <p:spPr>
          <a:xfrm>
            <a:off x="8202168" y="210312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Buenas prácticas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202168" y="2542032"/>
            <a:ext cx="2980944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LeakyReLU, BatchNorm, Adam con beta_1=0.5, tasas de aprendizaje bajas y muchas épocas.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3.4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Tipos de GANs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41248" y="5029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Variantes para controlar y ampliar lo que se genera</a:t>
            </a:r>
            <a:endParaRPr lang="en-US" sz="1800" dirty="0"/>
          </a:p>
        </p:txBody>
      </p:sp>
      <p:pic>
        <p:nvPicPr>
          <p:cNvPr id="7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3.4 TIPOS DE GANs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SGAN, cGAN y CycleGAN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9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2011680"/>
            <a:ext cx="3383280" cy="320040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2011680"/>
            <a:ext cx="3383280" cy="1097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10" name="Text 7"/>
          <p:cNvSpPr/>
          <p:nvPr/>
        </p:nvSpPr>
        <p:spPr>
          <a:xfrm>
            <a:off x="1069848" y="219456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Semisupervisada (SGAN)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69848" y="2633472"/>
            <a:ext cx="298094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discriminador clasifica en N+1 clases: las N reales del problema más una para 'falso'.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Aprovecha datos sin etiquetar.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434840" y="2011680"/>
            <a:ext cx="3383280" cy="320040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34840" y="2011680"/>
            <a:ext cx="3383280" cy="109728"/>
          </a:xfrm>
          <a:prstGeom prst="rect">
            <a:avLst/>
          </a:prstGeom>
          <a:solidFill>
            <a:srgbClr val="4355FF"/>
          </a:solidFill>
          <a:ln/>
        </p:spPr>
      </p:sp>
      <p:sp>
        <p:nvSpPr>
          <p:cNvPr id="14" name="Text 11"/>
          <p:cNvSpPr/>
          <p:nvPr/>
        </p:nvSpPr>
        <p:spPr>
          <a:xfrm>
            <a:off x="4636008" y="219456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Condicional (cGAN)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636008" y="2633472"/>
            <a:ext cx="298094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Se le indica QUÉ generar mediante una etiqueta (p. ej. un dígito concreto).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Usa una capa embedding para la etiqueta. Da control sobre el resultado.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001000" y="2011680"/>
            <a:ext cx="3383280" cy="320040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01000" y="2011680"/>
            <a:ext cx="3383280" cy="109728"/>
          </a:xfrm>
          <a:prstGeom prst="rect">
            <a:avLst/>
          </a:prstGeom>
          <a:solidFill>
            <a:srgbClr val="67E3D4"/>
          </a:solidFill>
          <a:ln/>
        </p:spPr>
      </p:sp>
      <p:sp>
        <p:nvSpPr>
          <p:cNvPr id="18" name="Text 15"/>
          <p:cNvSpPr/>
          <p:nvPr/>
        </p:nvSpPr>
        <p:spPr>
          <a:xfrm>
            <a:off x="8202168" y="219456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CycleGAN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202168" y="2633472"/>
            <a:ext cx="298094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Cuatro redes para traducir imagen a imagen entre dos dominios (caballo ↔ cebra).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No usa ruido: parte de imágenes del otro dominio.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3.4 TIPOS DE GANs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GAN condicional (cGAN) en detalle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10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783080"/>
            <a:ext cx="6400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Problema de la DGAN: genera al azar; no podemos elegir QUÉ genera.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cGAN añade la etiqueta como entrada a AMBAS redes.</a:t>
            </a:r>
            <a:endParaRPr lang="en-US" sz="1500" dirty="0"/>
          </a:p>
          <a:p>
            <a:pPr lvl="1" marL="406400" indent="-203200">
              <a:spcAft>
                <a:spcPts val="800"/>
              </a:spcAft>
              <a:buSzPct val="100000"/>
              <a:buChar char="–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generador aprende a producir ejemplos de cada etiqueta.</a:t>
            </a:r>
            <a:endParaRPr lang="en-US" sz="1500" dirty="0"/>
          </a:p>
          <a:p>
            <a:pPr lvl="1" marL="406400" indent="-203200">
              <a:spcAft>
                <a:spcPts val="800"/>
              </a:spcAft>
              <a:buSzPct val="100000"/>
              <a:buChar char="–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discriminador aprende a rechazar los pares imagen-etiqueta que no coinciden.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b="1" dirty="0">
                <a:solidFill>
                  <a:srgbClr val="00A38C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Resultado: podemos pedirle 'genera un 7' y lo genera.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680960" y="2377440"/>
            <a:ext cx="1737360" cy="731520"/>
          </a:xfrm>
          <a:prstGeom prst="roundRect">
            <a:avLst>
              <a:gd name="adj" fmla="val 10000"/>
            </a:avLst>
          </a:prstGeom>
          <a:solidFill>
            <a:srgbClr val="5B6079"/>
          </a:solidFill>
          <a:ln w="12700">
            <a:solidFill>
              <a:srgbClr val="5B607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26680" y="23774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Ruido Z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680960" y="3291840"/>
            <a:ext cx="1737360" cy="731520"/>
          </a:xfrm>
          <a:prstGeom prst="roundRect">
            <a:avLst>
              <a:gd name="adj" fmla="val 10000"/>
            </a:avLst>
          </a:prstGeom>
          <a:solidFill>
            <a:srgbClr val="00A38C"/>
          </a:solidFill>
          <a:ln w="12700">
            <a:solidFill>
              <a:srgbClr val="00A38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26680" y="32918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Etiqueta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418320" y="2743200"/>
            <a:ext cx="548640" cy="365760"/>
          </a:xfrm>
          <a:prstGeom prst="line">
            <a:avLst/>
          </a:prstGeom>
          <a:noFill/>
          <a:ln w="25400">
            <a:solidFill>
              <a:srgbClr val="5B6079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9418320" y="3657600"/>
            <a:ext cx="548640" cy="-365760"/>
          </a:xfrm>
          <a:prstGeom prst="line">
            <a:avLst/>
          </a:prstGeom>
          <a:noFill/>
          <a:ln w="25400">
            <a:solidFill>
              <a:srgbClr val="5B6079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10058400" y="2834640"/>
            <a:ext cx="1645920" cy="731520"/>
          </a:xfrm>
          <a:prstGeom prst="roundRect">
            <a:avLst>
              <a:gd name="adj" fmla="val 10000"/>
            </a:avLst>
          </a:prstGeom>
          <a:solidFill>
            <a:srgbClr val="FF647E"/>
          </a:solidFill>
          <a:ln w="12700">
            <a:solidFill>
              <a:srgbClr val="FF647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104120" y="28346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Generador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680960" y="4389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imagen de la clase pedida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MÓDULO 3 · UNIDAD 3 (II)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Resumen de la sesión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generador usa Conv2DTranspose para construir una imagen a partir de ruido.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discriminador es una CNN binaria (real / falso).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bucle adversario alterna el entrenamiento de ambas redes.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Entrenar una GAN es delicado: equilibrio y colapso de modo.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Variantes: SGAN (semisupervisada), cGAN (condicional) y CycleGAN (imagen a imagen).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MÓDULO 3 · UNIDAD 3 (II)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Práctica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12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1828800"/>
            <a:ext cx="5212080" cy="384048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1828800"/>
            <a:ext cx="5212080" cy="128016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10" name="Text 7"/>
          <p:cNvSpPr/>
          <p:nvPr/>
        </p:nvSpPr>
        <p:spPr>
          <a:xfrm>
            <a:off x="1097280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Ahora: notebooks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97280" y="2697480"/>
            <a:ext cx="47548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01 · Una DGAN que genera imágenes de dígitos.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02 · Una GAN condicional: pedirle que genere un dígito concreto.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Ábrelos en Colab y ejecuta cada celda.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63640" y="1828800"/>
            <a:ext cx="5120640" cy="3840480"/>
          </a:xfrm>
          <a:prstGeom prst="rect">
            <a:avLst/>
          </a:prstGeom>
          <a:solidFill>
            <a:srgbClr val="000F9F"/>
          </a:solidFill>
          <a:ln/>
        </p:spPr>
      </p:sp>
      <p:sp>
        <p:nvSpPr>
          <p:cNvPr id="13" name="Shape 10"/>
          <p:cNvSpPr/>
          <p:nvPr/>
        </p:nvSpPr>
        <p:spPr>
          <a:xfrm>
            <a:off x="6263640" y="1828800"/>
            <a:ext cx="5120640" cy="128016"/>
          </a:xfrm>
          <a:prstGeom prst="rect">
            <a:avLst/>
          </a:prstGeom>
          <a:solidFill>
            <a:srgbClr val="67E3D4"/>
          </a:solidFill>
          <a:ln/>
        </p:spPr>
      </p:sp>
      <p:sp>
        <p:nvSpPr>
          <p:cNvPr id="14" name="Text 11"/>
          <p:cNvSpPr/>
          <p:nvPr/>
        </p:nvSpPr>
        <p:spPr>
          <a:xfrm>
            <a:off x="6492240" y="21031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Para seguir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492240" y="26974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Entrena con más épocas: la calidad mejora mucho.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Usa GPU en Colab para acelerar.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Prueba con imágenes mayores (MNIST 28×28).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64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280160"/>
            <a:ext cx="3840480" cy="3840480"/>
          </a:xfrm>
          <a:prstGeom prst="ellipse">
            <a:avLst/>
          </a:prstGeom>
          <a:solidFill>
            <a:srgbClr val="FF9BAC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194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¡Gracias!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7724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Nos vemos en la próxima videoclase.</a:t>
            </a:r>
            <a:endParaRPr lang="en-US" sz="2000" dirty="0"/>
          </a:p>
        </p:txBody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6263640"/>
            <a:ext cx="1325880" cy="502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GANs II</dc:title>
  <dc:subject>PptxGenJS Presentation</dc:subject>
  <dc:creator>Ignacio López</dc:creator>
  <cp:lastModifiedBy>Ignacio López</cp:lastModifiedBy>
  <cp:revision>1</cp:revision>
  <dcterms:created xsi:type="dcterms:W3CDTF">2026-07-14T11:26:03Z</dcterms:created>
  <dcterms:modified xsi:type="dcterms:W3CDTF">2026-07-14T11:26:03Z</dcterms:modified>
</cp:coreProperties>
</file>