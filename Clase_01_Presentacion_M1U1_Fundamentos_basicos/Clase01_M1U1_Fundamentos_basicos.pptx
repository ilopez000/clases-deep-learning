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97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52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al Deep Learning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 · Presentación del curso y Fundamentos básicos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— Unidad 1: Fundamentos básicos (1.1 a 1.6)</a:t>
            </a:r>
            <a:endParaRPr lang="en-US" sz="1600" dirty="0"/>
          </a:p>
        </p:txBody>
      </p:sp>
      <p:pic>
        <p:nvPicPr>
          <p:cNvPr id="10" name="Image 1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al curso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Durante estas videoclases construiremos, paso a paso, los fundamentos del aprendizaje automático y del aprendizaje profundo (Deep Learning), combinando teoría y práctica con Python.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154680"/>
            <a:ext cx="6858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Aprenderemos qué es el Machine Learning y cómo se diferencia de la IA tradicional.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Entenderemos el proceso de aprendizaje: entrenamiento e inferencia.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Conoceremos las herramientas que usaremos durante todo el curso.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Daremos nuestros primeros pasos prácticos con Colab y Scikit-Learn.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92440" y="1691640"/>
            <a:ext cx="3337560" cy="416052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7532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75320" y="26060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Duración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~90 minutos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Formato</a:t>
            </a:r>
            <a:endParaRPr lang="en-US" sz="13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Teoría (diapositivas) + práctica (notebooks)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</a:t>
            </a:r>
            <a:endParaRPr lang="en-US" sz="13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M1 · U1: Fundamentos básicos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Estructura del curso: 4 módulos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5780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783080"/>
            <a:ext cx="128016" cy="192024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1430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24048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al aprendizaje automático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Fundamentos básicos · Preparación de datos y herramientas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0" y="1783080"/>
            <a:ext cx="525780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400800" y="1783080"/>
            <a:ext cx="128016" cy="1920240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67512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75120" y="24048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al aprendizaje profundo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3017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· Clasificación · Regresión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3931920"/>
            <a:ext cx="525780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868680" y="3931920"/>
            <a:ext cx="128016" cy="192024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114300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143000" y="4553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artificial con Deep Learning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3000" y="5166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convolucionales (CNN)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0" y="3931920"/>
            <a:ext cx="5257800" cy="19202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6400800" y="3931920"/>
            <a:ext cx="128016" cy="1920240"/>
          </a:xfrm>
          <a:prstGeom prst="rect">
            <a:avLst/>
          </a:prstGeom>
          <a:solidFill>
            <a:srgbClr val="00A3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667512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675120" y="4553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Otros entornos de aprendizaje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675120" y="5166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recurrentes · Procesamiento del lenguaje natural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comenzamos por el Módulo 1, Unidad 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Metodología y herramientas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Clases en vídeo de ~90 minutos que alternan teoría y práctica.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concepto de las diapositivas se acompaña de notebooks (.ipynb) con teoría y ejemplos ejecutables.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Lenguaje: Python. Entorno principal: Google Colab (gratuito, en la nube).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material de cada clase se publica en GitHub para que puedas seguirlo y practicar.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783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67E3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00100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Python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738360" y="178308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FF64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78408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Colab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55280" y="2807208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001000" y="280720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NumPy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738360" y="2807208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784080" y="280720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Pandas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55280" y="3831336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00A3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001000" y="383133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738360" y="3831336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FF64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784080" y="383133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 / Keras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955280" y="4855464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8001000" y="485546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PyTorch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738360" y="4855464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F6FF"/>
          </a:solidFill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9784080" y="4855464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Git / GitHub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Índice de la sesión de hoy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49440" y="1691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 IA tradicional al aprendizaje automático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2423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874520" y="2423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Fundamentos de Machine Learning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4944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Proceso de aprendizaje, tipos de modelos y algoritmos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874520" y="3154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Fundamentos del Deep Learning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49440" y="3154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neuronas: de McCulloch-Pitts a las redes profundas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874520" y="3886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Herramientas de desarrollo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4944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Librerías y frameworks que usaremos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4617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1.5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87452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 Google Colab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49440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Notebooks en la nube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" y="5349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187452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 Scikit-Learn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49440" y="5349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Práctica: nuestro primer modelo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los sistemas de reglas al aprendizaje automático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Aprender: la clave de la adaptación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permite a los seres vivos adaptarse al entorno y aumentar su supervivencia.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los humanos influyen además valores, principios morales y reglas sociales.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Construimos modelos de comportamiento a partir de la información que recibimos del entorno.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 capacidad inspiró la investigación en Inteligencia Artificial (IA): imitar y reproducir el aprendizaje.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8463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“IA = imitar los procesos de aprendizaje para aumentar las capacidades de los algoritmos.”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IA tradicional: sistemas basados en reglas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experto define reglas estáticas; el algoritmo las aplica sobre los datos para producir una respuesta.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468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6012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6012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Reglas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(experto)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06240" y="30632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251960" y="30632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tradicional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321040" y="30632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366760" y="3063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971800" y="2926080"/>
            <a:ext cx="11887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71800" y="4114800"/>
            <a:ext cx="11887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6995160" y="3538728"/>
            <a:ext cx="12801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868680" y="5074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reglas están incrustadas en el algoritmo: difíciles de modificar.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Poca capacidad de adaptación a situaciones no previstas por el experto.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Modos de simular el aprendizaje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1208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78308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0025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Inductivo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41448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Generaliza a partir de ejemplos simples, identificando patrones comunes. El nuevo conocimiento puede modificar o invalidar lo aprendido.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21208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64808" y="20025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Deductivo o analítico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41448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Obtiene una descripción general a partir de ejemplos explicados de forma completa. El nuevo conocimiento completa o refuerza lo previo.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40480"/>
            <a:ext cx="521208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68680" y="3840480"/>
            <a:ext cx="521208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069848" y="40599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Analógico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498848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Resuelve problemas nuevos buscando similitudes con problemas ya resueltos y adaptando su solución (razonamiento basado en casos).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840480"/>
            <a:ext cx="521208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263640" y="3840480"/>
            <a:ext cx="521208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464808" y="4059936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Conexionista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64808" y="4498848"/>
            <a:ext cx="4809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Construye modelos basados en conexiones de entidades sencillas. Base de las redes de neuronas y de su configuración dinámica.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Cambio de paradigma: nace el Machine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lugar de programar las reglas, el algoritmo las aprende a partir de los datos y sus respuestas.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468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960120" y="2468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3657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9BAC"/>
          </a:solidFill>
          <a:ln w="12700">
            <a:solidFill>
              <a:srgbClr val="FF9B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60120" y="36576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Respuestas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06240" y="30632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251960" y="30632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503920" y="30632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8549640" y="3063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Reglas =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971800" y="2926080"/>
            <a:ext cx="11887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71800" y="4114800"/>
            <a:ext cx="11887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7178040" y="3538728"/>
            <a:ext cx="12801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conjunto de reglas extraído de los datos se denomina MODELO.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IA ⊃ Machine Learning ⊃ Deep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600200"/>
            <a:ext cx="5852160" cy="4572000"/>
          </a:xfrm>
          <a:prstGeom prst="ellipse">
            <a:avLst/>
          </a:prstGeom>
          <a:solidFill>
            <a:srgbClr val="D9DDFF"/>
          </a:solidFill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1554480" y="2240280"/>
            <a:ext cx="4480560" cy="3291840"/>
          </a:xfrm>
          <a:prstGeom prst="ellipse">
            <a:avLst/>
          </a:prstGeom>
          <a:solidFill>
            <a:srgbClr val="FF9BAC"/>
          </a:solidFill>
          <a:ln w="19050">
            <a:solidFill>
              <a:srgbClr val="FF64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2240280" y="2926080"/>
            <a:ext cx="3108960" cy="192024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Inteligencia Artificial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45920" y="2395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1B33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3172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Deep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2011680"/>
            <a:ext cx="4297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Deep Learning es una especialización del Machine Learning basada en redes de neuronas profundas.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Gran capacidad para construir modelos complejos de razonamiento.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Debilidad: difícil de explicar (“caja negra”) por la complejidad de su arquitectura.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Aplicaciones del Deep Learning por sectores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Movilidad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Rutas eficientes, menos atascos y contaminación.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5760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657600" y="182880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85876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Finanzas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5876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Prevención de fraude y personalización de productos.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4652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446520" y="1828800"/>
            <a:ext cx="260604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64768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Agricultura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4768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Zonas de cultivo óptimas y detección de enfermedades.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3544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9235440" y="1828800"/>
            <a:ext cx="260604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943660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Energía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43660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Mantenimiento predictivo y precios de la energía.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868680" y="393192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106984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Salud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6984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Diagnóstico y detección de tumores (visión artificial).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65760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3657600" y="393192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385876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Medios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85876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Publicidad y recomendaciones personalizadas.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4652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0"/>
          <p:cNvSpPr/>
          <p:nvPr/>
        </p:nvSpPr>
        <p:spPr>
          <a:xfrm>
            <a:off x="6446520" y="3931920"/>
            <a:ext cx="260604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664768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Logística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64768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 de precios y stock en tiempo real.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23544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9235440" y="3931920"/>
            <a:ext cx="260604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943660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Sector público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43660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Asignación de recursos y servicios urbanos.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Fundamentos de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Proceso de aprendizaje, modelos y familias de algoritmos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el aprendizaje automático?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Proceso de adquisición automática de conocimiento mediante ejemplos de entrenamiento que definen el concepto que se desea aprender.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 entrada = información del entorno que provoca cambios en el modelo (estudiante).</a:t>
            </a:r>
            <a:endParaRPr lang="en-US" sz="1600" dirty="0"/>
          </a:p>
          <a:p>
            <a:pPr marL="406400" lvl="1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etiquetados: un “profesor” indica la respuesta esperada.</a:t>
            </a:r>
            <a:endParaRPr lang="en-US" sz="1600" dirty="0"/>
          </a:p>
          <a:p>
            <a:pPr marL="406400" lvl="1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no etiquetados: información en bruto, sin respuesta conocida.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sistemas deben tolerar datos incompletos, inciertos, con ruido o inconsistencias.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Cuatro familias: supervisado, no supervisado, semisupervisado y por refuerzo.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Proceso de aprendizaje: entrenamiento e inferencia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645920"/>
            <a:ext cx="10469880" cy="2057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515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 · ENTRENAMIENTO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2331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143000" y="2331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respuestas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23317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703320" y="2331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23317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9BAC"/>
          </a:solidFill>
          <a:ln w="12700">
            <a:solidFill>
              <a:srgbClr val="FF9BA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446520" y="2331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52560" y="233172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9098280" y="2331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971800" y="2761488"/>
            <a:ext cx="5943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5715000" y="2761488"/>
            <a:ext cx="5943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8275320" y="2761488"/>
            <a:ext cx="68580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68680" y="3977640"/>
            <a:ext cx="10469880" cy="187452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105156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 · INFERENCIA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97280" y="46177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1143000" y="4617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nuevos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023360" y="46177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069080" y="4617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desplegado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949440" y="46177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6995160" y="4617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337560" y="5047488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6263640" y="5047488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Elementos del entrenamiento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04825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 entrada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871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Instancias o ejemplos descritos por características (features) y, a veces, una clase (etiqueta).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07408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407408" y="182880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608576" y="204825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Generación de conjuntos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8576" y="24871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División en entrenamiento, validación y test.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46136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7946136" y="182880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147304" y="204825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47304" y="248716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Inicializa y construye el modelo de aprendizaje.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8680" y="393192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68680" y="3931920"/>
            <a:ext cx="333756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1069848" y="415137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 loss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59028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Mide la calidad del modelo durante el entrenamiento.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407408" y="393192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4407408" y="393192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4608576" y="415137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de optimización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08576" y="459028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Ajusta las variables del modelo en cada iteración (descenso del gradiente, Adam).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946136" y="393192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7946136" y="393192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8147304" y="4151376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Hiperparámetros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147304" y="4590288"/>
            <a:ext cx="2935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Configuran el algoritmo, p. ej. la tasa de aprendizaje (learning rate).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Instancias, características y clase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Instancia / ejemplo: una unidad de los datos de entrada.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Características (features): atributos que describen cada instancia.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Clase: atributo especial con un número finito de etiquetas (el resultado esperado).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etiquetas suelen ser texto, pero se transforman a formato numérico para el algoritmo.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89520" y="1828800"/>
            <a:ext cx="3840480" cy="36576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clasificar mamíferos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2514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(píxeles)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3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→ características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Etiqueta: “Gato”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→ clase a predecir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 de modelos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3383280" cy="35661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9202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13969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78608"/>
            <a:ext cx="2980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Predice una salida discreta (clase).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Binaria: dos clases (Sí / No).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Multiclase: más de dos clases.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¿es spam o no?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383280" cy="35661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434840" y="19202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636008" y="213969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Regresión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578608"/>
            <a:ext cx="2980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Predice una salida continua (un número real) a partir de datos etiquetados.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estimar el precio de una vivienda.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01000" y="1920240"/>
            <a:ext cx="3383280" cy="35661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001000" y="19202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202168" y="213969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Agrupamiento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578608"/>
            <a:ext cx="2980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Agrupa instancias por similitud (clustering). La salida es discreta.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número de grupos suele ser una entrada del algoritmo.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Familias de algoritmos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783080"/>
            <a:ext cx="525780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00253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Supervisado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41448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etiquetados (información completa). Aprende a mapear entradas a salidas conocidas. Produce clasificación y regresión. Ej.: árboles de decisión, regresión lineal.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400800" y="178308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601968" y="200253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supervisado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01968" y="2441448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no etiquetados (información incompleta). Agrupa por características comunes y reduce dimensionalidad. Ej.: K-Means, PCA.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404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68680" y="3840480"/>
            <a:ext cx="525780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069848" y="405993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Semisupervisado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69848" y="4498848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Información parcialmente incompleta: algunas instancias etiquetadas y otras no. Combina técnicas de los grupos anteriores.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3840480"/>
            <a:ext cx="525780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400800" y="3840480"/>
            <a:ext cx="525780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601968" y="405993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Por refuerzo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601968" y="4498848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 mediante estados, acciones y recompensas (reward) para construir una política óptima. Ej.: Q-Learning, SARSA.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FUNDAMENTOS DE 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Modos de aprendizaje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Global / por lotes (batch)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 sobre todo el conjunto de datos a la vez.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Sencillo, el más utilizado.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Reentrenar con datos nuevos exige empezar de cero.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Costoso en tiempo y almacenamiento.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Incremental / tiempo real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 sobre instancias o micro-lotes (micro-batches).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el último modelo como base del siguiente.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Compara la calidad: despliega si iguala o supera al anterior.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Ideal para modelos con alta tasa de actualización.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Fundamentos del Deep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 neurona artificial a las redes profundas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FUNDAMENTOS DEL DEEP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origen del Deep Learning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b="1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2006: Geoffrey Hinton publica “A fast learning algorithm for deep belief nets”.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Entrenó una red capaz de reconocer dígitos escritos a mano con un 98% de precisión.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Cambio radical: la comunidad científica había descartado las redes de neuronas décadas atrás.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“Profundas” por el elevado número de capas ocultas de su arquitectura.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4754880"/>
            <a:ext cx="10515600" cy="914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05840" y="47548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1943 McCulloch &amp; Pitts  →  1986 modelo estándar (Rumelhart &amp; McClelland)  →  2006 Hinton (redes profundas)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FUNDAMENTOS DEL DEEP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neurona artificial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redes de neuronas simulan el cerebro como un grafo dirigido.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Nodos = neuronas; arcos = sinapsis o conexiones.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1943, McCulloch y Pitts: primer modelo, dos capas (entrada → salida).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neurona aplica una operación y una función de activación por umbral.</a:t>
            </a:r>
            <a:endParaRPr lang="en-US" sz="1600" dirty="0"/>
          </a:p>
          <a:p>
            <a:pPr marL="406400" lvl="1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valor supera el umbral, la salida es 1; si no, 0.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0" y="2011680"/>
            <a:ext cx="640080" cy="64008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772400" y="3017520"/>
            <a:ext cx="640080" cy="64008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772400" y="4023360"/>
            <a:ext cx="640080" cy="64008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0332720" y="3017520"/>
            <a:ext cx="822960" cy="82296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412480" y="2331720"/>
            <a:ext cx="1920240" cy="1097280"/>
          </a:xfrm>
          <a:prstGeom prst="line">
            <a:avLst/>
          </a:prstGeom>
          <a:noFill/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8412480" y="3337560"/>
            <a:ext cx="1920240" cy="91440"/>
          </a:xfrm>
          <a:prstGeom prst="line">
            <a:avLst/>
          </a:prstGeom>
          <a:noFill/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8412480" y="4343400"/>
            <a:ext cx="1920240" cy="0"/>
          </a:xfrm>
          <a:prstGeom prst="line">
            <a:avLst/>
          </a:prstGeom>
          <a:noFill/>
          <a:ln w="19050">
            <a:solidFill>
              <a:srgbClr val="000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498080" y="4846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FUNDAMENTOS DEL DEEP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simples vs. redes profundas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2578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920240"/>
            <a:ext cx="525780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139696"/>
            <a:ext cx="485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simple (Shallow)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78608"/>
            <a:ext cx="48554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única capa oculta entre la entrada y la salida.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Capacidad limitada para representar relaciones complejas.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64808" y="2139696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profunda (Deep)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78608"/>
            <a:ext cx="4718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de dos capas ocultas.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GoogLeNet, con 22 capas de profundidad.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Gran capacidad para modelar problemas complejos.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profundidad (número de capas ocultas) es lo que distingue a las redes profundas.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Herramientas de desarrollo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librerías y frameworks del curso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 HERRAMIENTAS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Cinco grupos de herramientas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103120"/>
            <a:ext cx="20574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2057400" cy="64008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6868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88036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Python, Git, Jupyter, Colab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090672" y="2103120"/>
            <a:ext cx="20574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090672" y="2103120"/>
            <a:ext cx="2057400" cy="640080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090672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Manipulación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27832" y="288036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NumPy, SciPy, Pandas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12664" y="2103120"/>
            <a:ext cx="20574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5312664" y="2103120"/>
            <a:ext cx="2057400" cy="64008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312664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49824" y="288036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Scikit-Learn, TensorFlow, Keras, PyTorch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534656" y="2103120"/>
            <a:ext cx="20574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34656" y="2103120"/>
            <a:ext cx="2057400" cy="640080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534656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671816" y="288036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Scikit-Learn, TensorBoard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756648" y="2103120"/>
            <a:ext cx="205740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9756648" y="2103120"/>
            <a:ext cx="2057400" cy="640080"/>
          </a:xfrm>
          <a:prstGeom prst="rect">
            <a:avLst/>
          </a:prstGeom>
          <a:solidFill>
            <a:srgbClr val="00A3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9756648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Despliegue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893808" y="2880360"/>
            <a:ext cx="1783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Docker, Colab, Local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1.4 HERRAMIENTAS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Librerías clave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NumPy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Arrays y matrices multidimensionales de gran tamaño.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65760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657600" y="182880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85876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SciPy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5876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Optimización, álgebra lineal, FFT, procesamiento de imágenes.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4652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446520" y="1828800"/>
            <a:ext cx="2606040" cy="109728"/>
          </a:xfrm>
          <a:prstGeom prst="rect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64768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Pandas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4768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estructurados (tablas) y series temporales.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235440" y="182880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9235440" y="182880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9436608" y="204825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436608" y="24871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Algoritmos de ML clásicos y utilidades de evaluación.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868680" y="393192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106984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6984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Flujos de operaciones; base para redes de neuronas.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65760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3657600" y="393192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385876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Keras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85876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API de alto nivel sobre TensorFlow para redes profundas.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4652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0"/>
          <p:cNvSpPr/>
          <p:nvPr/>
        </p:nvSpPr>
        <p:spPr>
          <a:xfrm>
            <a:off x="6446520" y="3931920"/>
            <a:ext cx="260604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664768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PyTorch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64768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Visión por computador y procesamiento del lenguaje natural.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235440" y="3931920"/>
            <a:ext cx="260604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9235440" y="3931920"/>
            <a:ext cx="260604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9436608" y="4151376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TensorBoard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436608" y="459028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Visualización de métricas, grafos e histogramas.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 Google Colab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Notebooks de desarrollo en la nube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1.5 GOOGLE COLAB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Google Colab?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Entorno de Jupyter Notebook gratuito que se ejecuta en la nube.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notebooks combinan código, ecuaciones, visualizaciones y texto.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Almacena los cuadernos en Google Drive; solo necesitas una cuenta de Gmail.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Ejecuta Python (2 y 3); también R y Swift con configuración adicional.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589520" y="1828800"/>
            <a:ext cx="3840480" cy="374904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Estados de una celda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5146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▶  Lista para ejecutar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■  En ejecución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▶  (en rojo) Error de ejecución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[n]  Orden de ejecución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Shift + Enter ejecuta y crea celda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1.5 GOOGLE COLAB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Hardware: CPU, GPU y TPU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69848" y="22311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CPU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70048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Opción por defecto. Ejecuta todo el código en el procesador del entorno.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Suficiente para pruebas pequeñas.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4636008" y="22311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GPU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70048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Recomendada para redes de neuronas profundas grandes.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Acelera notablemente el entrenamiento.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202168" y="22311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TPU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70048"/>
            <a:ext cx="2980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Hardware especial de los centros de datos de Google.</a:t>
            </a: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endParaRPr lang="en-US" sz="12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Procesadores tensoriales de alto rendimiento.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Entorno de ejecución → Cambiar tipo de entorno de ejecución.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 Scikit-Learn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Práctica: nuestro primer modelo de ML</a:t>
            </a:r>
            <a:endParaRPr lang="en-US" sz="1800" dirty="0"/>
          </a:p>
        </p:txBody>
      </p:sp>
      <p:pic>
        <p:nvPicPr>
          <p:cNvPr id="7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 SCIKIT-LEARN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Scikit-Learn?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Biblioteca de aprendizaje automático de software libre para Python.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Nació en el Google Summer of Code de 2011; hoy es una de las más usadas del mundo.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Incluye clasificación, regresión y agrupamiento.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8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Interopera de forma nativa con NumPy y SciPy.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 SCIKIT-LEARN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Flujo de trabajo en Scikit-Learn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8308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Cargar datos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669280" y="17373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Datasets nativos o externos (CSV con Pandas).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88720" y="2377440"/>
            <a:ext cx="0" cy="22860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conjuntos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0" y="2606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train_test_split → X (características) e Y (clase).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88720" y="3246120"/>
            <a:ext cx="0" cy="22860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68680" y="347472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868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83080" y="3474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Crear el modelo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669280" y="3474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Elegir algoritmo, p. ej. DecisionTreeClassifier.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188720" y="4114800"/>
            <a:ext cx="0" cy="22860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8686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783080" y="4343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669280" y="4343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Método fit(X_train, y_train).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88720" y="4983480"/>
            <a:ext cx="0" cy="22860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868680" y="5212080"/>
            <a:ext cx="640080" cy="640080"/>
          </a:xfrm>
          <a:prstGeom prst="ellipse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86868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78308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5669280" y="52120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accuracy y matriz de confusión sobre el test.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 SCIKIT-LEARN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árbol de decisión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supervisado basado en aprendizaje inductivo.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Estructura en árbol: raíz → nodos intermedios → hojas, unidos por arcos.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Nodos intermedios = atributos; hojas = clases; arcos = valores de los atributos.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predecir, se recorre un camino desde la raíz hasta una hoja.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Ventaja: el modelo es visualizable y fácil de interpretar.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0" y="1920240"/>
            <a:ext cx="822960" cy="640080"/>
          </a:xfrm>
          <a:prstGeom prst="ellipse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955280" y="3200400"/>
            <a:ext cx="822960" cy="64008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0332720" y="3200400"/>
            <a:ext cx="822960" cy="640080"/>
          </a:xfrm>
          <a:prstGeom prst="ellipse">
            <a:avLst/>
          </a:prstGeom>
          <a:solidFill>
            <a:srgbClr val="4355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315200" y="4572000"/>
            <a:ext cx="822960" cy="594360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95360" y="4572000"/>
            <a:ext cx="822960" cy="594360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0332720" y="4572000"/>
            <a:ext cx="822960" cy="594360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9326880" y="2560320"/>
            <a:ext cx="0" cy="64008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9784080" y="2560320"/>
            <a:ext cx="914400" cy="64008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229600" y="3840480"/>
            <a:ext cx="0" cy="73152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8503920" y="3840480"/>
            <a:ext cx="457200" cy="73152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98480" y="3840480"/>
            <a:ext cx="0" cy="73152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14400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raíz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1.6 SCIKIT-LEARN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Evaluación del modelo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Accuracy: porcentaje de aciertos sobre el conjunto de test.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test contiene instancias NO usadas en el entrenamiento (datos desconocidos).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Matriz de confusión: muestra aciertos y errores por clase.</a:t>
            </a:r>
            <a:endParaRPr lang="en-US" sz="1600" dirty="0"/>
          </a:p>
          <a:p>
            <a:pPr marL="406400" lvl="1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diagonal principal = clasificaciones correctas.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080" y="2194560"/>
            <a:ext cx="1005840" cy="1005840"/>
          </a:xfrm>
          <a:prstGeom prst="rect">
            <a:avLst/>
          </a:prstGeom>
          <a:solidFill>
            <a:srgbClr val="000F9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50392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09760" y="219456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950976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98080" y="320040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49808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03920" y="3200400"/>
            <a:ext cx="1005840" cy="1005840"/>
          </a:xfrm>
          <a:prstGeom prst="rect">
            <a:avLst/>
          </a:prstGeom>
          <a:solidFill>
            <a:srgbClr val="000F9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50392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509760" y="320040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950976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98080" y="420624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49808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03920" y="4206240"/>
            <a:ext cx="1005840" cy="1005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850392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09760" y="4206240"/>
            <a:ext cx="1005840" cy="1005840"/>
          </a:xfrm>
          <a:prstGeom prst="rect">
            <a:avLst/>
          </a:prstGeom>
          <a:solidFill>
            <a:srgbClr val="000F9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950976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Matriz de confusión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49808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↓   /   Predicho →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Resumen: lo que hemos aprendido hoy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IA tradicional usa reglas fijas; el Machine Learning aprende las reglas de los datos.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proceso de aprendizaje tiene dos fases: entrenamiento e inferencia.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Modelos: clasificación, regresión y agrupamiento. Familias: supervisado, no supervisado, semisupervisado y por refuerzo.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Deep Learning son redes de neuronas profundas (muchas capas ocultas).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7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Usaremos Python, Colab y Scikit-Learn; hoy construimos un árbol de decisión.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Primeros pasos en Colab y librerías.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Tu primer modelo con Scikit-Learn (árbol de decisión end-to-end).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1 · Unidad 2: Preparación de datos y herramientas.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Limpieza y transformación de datos con Pandas.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Generación de conjuntos para entrenamiento.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64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Microsoft Office PowerPoint</Application>
  <PresentationFormat>Panorámica</PresentationFormat>
  <Paragraphs>471</Paragraphs>
  <Slides>38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1" baseType="lpstr">
      <vt:lpstr>Arial</vt:lpstr>
      <vt:lpstr>Titillium Web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Deep Learning - Clase 1</dc:title>
  <dc:subject>PptxGenJS Presentation</dc:subject>
  <dc:creator>Ignacio López</dc:creator>
  <cp:lastModifiedBy>Ignacio López Aylagas</cp:lastModifiedBy>
  <cp:revision>2</cp:revision>
  <dcterms:created xsi:type="dcterms:W3CDTF">2026-06-01T15:08:43Z</dcterms:created>
  <dcterms:modified xsi:type="dcterms:W3CDTF">2026-06-02T11:25:00Z</dcterms:modified>
</cp:coreProperties>
</file>