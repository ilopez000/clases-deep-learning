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F9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097280" y="4297680"/>
            <a:ext cx="3291840" cy="3291840"/>
          </a:xfrm>
          <a:prstGeom prst="ellipse">
            <a:avLst/>
          </a:prstGeom>
          <a:solidFill>
            <a:srgbClr val="4355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FF647E"/>
          </a:solidFill>
          <a:ln/>
        </p:spPr>
      </p:sp>
      <p:pic>
        <p:nvPicPr>
          <p:cNvPr id="4" name="Image 0" descr="logo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502920"/>
            <a:ext cx="1737360" cy="65836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66928" y="187452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647E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❯❯</a:t>
            </a:r>
            <a:endParaRPr lang="en-US" sz="3000" dirty="0"/>
          </a:p>
        </p:txBody>
      </p:sp>
      <p:sp>
        <p:nvSpPr>
          <p:cNvPr id="6" name="Text 3"/>
          <p:cNvSpPr/>
          <p:nvPr/>
        </p:nvSpPr>
        <p:spPr>
          <a:xfrm>
            <a:off x="548640" y="2286000"/>
            <a:ext cx="107899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Clasificación</a:t>
            </a:r>
            <a:endParaRPr lang="en-US" sz="4600" dirty="0"/>
          </a:p>
        </p:txBody>
      </p:sp>
      <p:sp>
        <p:nvSpPr>
          <p:cNvPr id="7" name="Shape 4"/>
          <p:cNvSpPr/>
          <p:nvPr/>
        </p:nvSpPr>
        <p:spPr>
          <a:xfrm>
            <a:off x="594360" y="3703320"/>
            <a:ext cx="3108960" cy="64008"/>
          </a:xfrm>
          <a:prstGeom prst="rect">
            <a:avLst/>
          </a:prstGeom>
          <a:solidFill>
            <a:srgbClr val="67E3D4"/>
          </a:solidFill>
          <a:ln/>
        </p:spPr>
      </p:sp>
      <p:sp>
        <p:nvSpPr>
          <p:cNvPr id="8" name="Text 5"/>
          <p:cNvSpPr/>
          <p:nvPr/>
        </p:nvSpPr>
        <p:spPr>
          <a:xfrm>
            <a:off x="548640" y="3840480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F9BAC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Clase 4 · Módulo 2 — Unidad 2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548640" y="4434840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D9DDF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Construir y evaluar clasificadores con redes de neuronas</a:t>
            </a:r>
            <a:endParaRPr lang="en-US" sz="1600" dirty="0"/>
          </a:p>
        </p:txBody>
      </p:sp>
      <p:pic>
        <p:nvPicPr>
          <p:cNvPr id="10" name="Image 1" descr="logo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44200" y="6327648"/>
            <a:ext cx="1078992" cy="41148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146304" cy="566928"/>
          </a:xfrm>
          <a:prstGeom prst="rect">
            <a:avLst/>
          </a:prstGeom>
          <a:solidFill>
            <a:srgbClr val="FF647E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7E3D4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CLASE 4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22960" y="731520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00F9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Bienvenida y objetivos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48640" y="6199632"/>
            <a:ext cx="9966960" cy="0"/>
          </a:xfrm>
          <a:prstGeom prst="line">
            <a:avLst/>
          </a:prstGeom>
          <a:noFill/>
          <a:ln w="12700">
            <a:solidFill>
              <a:srgbClr val="D9DDFF"/>
            </a:solidFill>
            <a:prstDash val="solid"/>
          </a:ln>
        </p:spPr>
      </p:sp>
      <p:pic>
        <p:nvPicPr>
          <p:cNvPr id="6" name="Image 0" descr="logo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44200" y="6327648"/>
            <a:ext cx="1078992" cy="411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11480" y="6327648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079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1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68680" y="1691640"/>
            <a:ext cx="667512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800"/>
              </a:spcAft>
              <a:buSzPct val="100000"/>
              <a:buChar char="❯"/>
            </a:pPr>
            <a:r>
              <a:rPr lang="en-US" sz="1600" dirty="0">
                <a:solidFill>
                  <a:srgbClr val="0B1031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En la Clase 3 vimos cómo está hecha y cómo aprende una red de neuronas.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❯"/>
            </a:pPr>
            <a:r>
              <a:rPr lang="en-US" sz="1600" b="1" dirty="0">
                <a:solidFill>
                  <a:srgbClr val="FF647E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Hoy la ponemos a trabajar en la tarea más común: clasificar.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❯"/>
            </a:pPr>
            <a:r>
              <a:rPr lang="en-US" sz="1600" dirty="0">
                <a:solidFill>
                  <a:srgbClr val="0B1031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Aprenderemos a elegir la salida y la pérdida, a evaluar con métricas y a construir clasificadores con Keras.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7955280" y="1691640"/>
            <a:ext cx="3474720" cy="3931920"/>
          </a:xfrm>
          <a:prstGeom prst="rect">
            <a:avLst/>
          </a:prstGeom>
          <a:solidFill>
            <a:srgbClr val="000F9F"/>
          </a:solidFill>
          <a:ln/>
        </p:spPr>
      </p:sp>
      <p:sp>
        <p:nvSpPr>
          <p:cNvPr id="10" name="Text 7"/>
          <p:cNvSpPr/>
          <p:nvPr/>
        </p:nvSpPr>
        <p:spPr>
          <a:xfrm>
            <a:off x="8183880" y="192024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7E3D4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Hoy veremos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8183880" y="2468880"/>
            <a:ext cx="310896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Tipos de clasificación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Funciones de pérdida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Métricas de evaluación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Clasificadores con Keras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Optimización de hiperparámetros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146304" cy="566928"/>
          </a:xfrm>
          <a:prstGeom prst="rect">
            <a:avLst/>
          </a:prstGeom>
          <a:solidFill>
            <a:srgbClr val="FF647E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7E3D4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2.1 CLASIFICACIÓN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22960" y="731520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00F9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¿Qué es clasificar? Tres tipos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48640" y="6199632"/>
            <a:ext cx="9966960" cy="0"/>
          </a:xfrm>
          <a:prstGeom prst="line">
            <a:avLst/>
          </a:prstGeom>
          <a:noFill/>
          <a:ln w="12700">
            <a:solidFill>
              <a:srgbClr val="D9DDFF"/>
            </a:solidFill>
            <a:prstDash val="solid"/>
          </a:ln>
        </p:spPr>
      </p:sp>
      <p:pic>
        <p:nvPicPr>
          <p:cNvPr id="6" name="Image 0" descr="logo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44200" y="6327648"/>
            <a:ext cx="1078992" cy="411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11480" y="6327648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079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2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68680" y="1554480"/>
            <a:ext cx="10424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B1031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Clasificar es predecir una etiqueta de clase para cada ejemplo a partir de sus características (p. ej. spam o no).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868680" y="2377440"/>
            <a:ext cx="3383280" cy="3017520"/>
          </a:xfrm>
          <a:prstGeom prst="rect">
            <a:avLst/>
          </a:prstGeom>
          <a:solidFill>
            <a:srgbClr val="F4F6FF"/>
          </a:solidFill>
          <a:ln w="12700">
            <a:solidFill>
              <a:srgbClr val="D9DDFF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868680" y="2377440"/>
            <a:ext cx="3383280" cy="109728"/>
          </a:xfrm>
          <a:prstGeom prst="rect">
            <a:avLst/>
          </a:prstGeom>
          <a:solidFill>
            <a:srgbClr val="FF647E"/>
          </a:solidFill>
          <a:ln/>
        </p:spPr>
      </p:sp>
      <p:sp>
        <p:nvSpPr>
          <p:cNvPr id="11" name="Text 8"/>
          <p:cNvSpPr/>
          <p:nvPr/>
        </p:nvSpPr>
        <p:spPr>
          <a:xfrm>
            <a:off x="1069848" y="2560320"/>
            <a:ext cx="29809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0F9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Binaria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1069848" y="2999232"/>
            <a:ext cx="2980944" cy="2249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0B1031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Dos clases disjuntas (Sí / No).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0B1031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Ejemplo: el tumor es maligno o benigno.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4434840" y="2377440"/>
            <a:ext cx="3383280" cy="3017520"/>
          </a:xfrm>
          <a:prstGeom prst="rect">
            <a:avLst/>
          </a:prstGeom>
          <a:solidFill>
            <a:srgbClr val="F4F6FF"/>
          </a:solidFill>
          <a:ln w="12700">
            <a:solidFill>
              <a:srgbClr val="D9DDFF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4434840" y="2377440"/>
            <a:ext cx="3383280" cy="109728"/>
          </a:xfrm>
          <a:prstGeom prst="rect">
            <a:avLst/>
          </a:prstGeom>
          <a:solidFill>
            <a:srgbClr val="4355FF"/>
          </a:solidFill>
          <a:ln/>
        </p:spPr>
      </p:sp>
      <p:sp>
        <p:nvSpPr>
          <p:cNvPr id="15" name="Text 12"/>
          <p:cNvSpPr/>
          <p:nvPr/>
        </p:nvSpPr>
        <p:spPr>
          <a:xfrm>
            <a:off x="4636008" y="2560320"/>
            <a:ext cx="29809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0F9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Multiclase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4636008" y="2999232"/>
            <a:ext cx="2980944" cy="2249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0B1031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n clases disjuntas; cada ejemplo pertenece a UNA sola.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0B1031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Ejemplo: especie de flor (Iris).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8001000" y="2377440"/>
            <a:ext cx="3383280" cy="3017520"/>
          </a:xfrm>
          <a:prstGeom prst="rect">
            <a:avLst/>
          </a:prstGeom>
          <a:solidFill>
            <a:srgbClr val="F4F6FF"/>
          </a:solidFill>
          <a:ln w="12700">
            <a:solidFill>
              <a:srgbClr val="D9DDFF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8001000" y="2377440"/>
            <a:ext cx="3383280" cy="109728"/>
          </a:xfrm>
          <a:prstGeom prst="rect">
            <a:avLst/>
          </a:prstGeom>
          <a:solidFill>
            <a:srgbClr val="67E3D4"/>
          </a:solidFill>
          <a:ln/>
        </p:spPr>
      </p:sp>
      <p:sp>
        <p:nvSpPr>
          <p:cNvPr id="19" name="Text 16"/>
          <p:cNvSpPr/>
          <p:nvPr/>
        </p:nvSpPr>
        <p:spPr>
          <a:xfrm>
            <a:off x="8202168" y="2560320"/>
            <a:ext cx="29809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0F9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Multietiqueta</a:t>
            </a:r>
            <a:endParaRPr lang="en-US" sz="1500" dirty="0"/>
          </a:p>
        </p:txBody>
      </p:sp>
      <p:sp>
        <p:nvSpPr>
          <p:cNvPr id="20" name="Text 17"/>
          <p:cNvSpPr/>
          <p:nvPr/>
        </p:nvSpPr>
        <p:spPr>
          <a:xfrm>
            <a:off x="8202168" y="2999232"/>
            <a:ext cx="2980944" cy="2249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0B1031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n clases; cada ejemplo puede pertenecer a VARIAS.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0B1031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Ejemplo: una imagen que es mesa y escritorio.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146304" cy="566928"/>
          </a:xfrm>
          <a:prstGeom prst="rect">
            <a:avLst/>
          </a:prstGeom>
          <a:solidFill>
            <a:srgbClr val="FF647E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7E3D4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2.1 CLASIFICACIÓN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22960" y="731520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00F9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La salida y la función de pérdida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48640" y="6199632"/>
            <a:ext cx="9966960" cy="0"/>
          </a:xfrm>
          <a:prstGeom prst="line">
            <a:avLst/>
          </a:prstGeom>
          <a:noFill/>
          <a:ln w="12700">
            <a:solidFill>
              <a:srgbClr val="D9DDFF"/>
            </a:solidFill>
            <a:prstDash val="solid"/>
          </a:ln>
        </p:spPr>
      </p:sp>
      <p:pic>
        <p:nvPicPr>
          <p:cNvPr id="6" name="Image 0" descr="logo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44200" y="6327648"/>
            <a:ext cx="1078992" cy="411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11480" y="6327648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079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3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68680" y="1554480"/>
            <a:ext cx="10424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B1031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Cada tipo de clasificación usa una activación de salida y una función de pérdida concretas:</a:t>
            </a:r>
            <a:endParaRPr lang="en-US" sz="15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68680" y="2148840"/>
          <a:ext cx="10424160" cy="914400"/>
        </p:xfrm>
        <a:graphic>
          <a:graphicData uri="http://schemas.openxmlformats.org/drawingml/2006/table">
            <a:tbl>
              <a:tblPr/>
              <a:tblGrid>
                <a:gridCol w="3474720"/>
                <a:gridCol w="3474720"/>
                <a:gridCol w="3474720"/>
              </a:tblGrid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Titillium Web" pitchFamily="34" charset="0"/>
                          <a:ea typeface="Titillium Web" pitchFamily="34" charset="-122"/>
                          <a:cs typeface="Titillium Web" pitchFamily="34" charset="-120"/>
                        </a:rPr>
                        <a:t>Tipo</a:t>
                      </a:r>
                      <a:endParaRPr lang="en-US" sz="1300" dirty="0">
                        <a:latin typeface="Titillium Web" charset="0"/>
                        <a:ea typeface="Titillium Web" charset="0"/>
                        <a:cs typeface="Titillium Web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F9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Titillium Web" pitchFamily="34" charset="0"/>
                          <a:ea typeface="Titillium Web" pitchFamily="34" charset="-122"/>
                          <a:cs typeface="Titillium Web" pitchFamily="34" charset="-120"/>
                        </a:rPr>
                        <a:t>Activación de salida</a:t>
                      </a:r>
                      <a:endParaRPr lang="en-US" sz="1300" dirty="0">
                        <a:latin typeface="Titillium Web" charset="0"/>
                        <a:ea typeface="Titillium Web" charset="0"/>
                        <a:cs typeface="Titillium Web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F9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Titillium Web" pitchFamily="34" charset="0"/>
                          <a:ea typeface="Titillium Web" pitchFamily="34" charset="-122"/>
                          <a:cs typeface="Titillium Web" pitchFamily="34" charset="-120"/>
                        </a:rPr>
                        <a:t>Función de pérdida (loss)</a:t>
                      </a:r>
                      <a:endParaRPr lang="en-US" sz="1300" dirty="0">
                        <a:latin typeface="Titillium Web" charset="0"/>
                        <a:ea typeface="Titillium Web" charset="0"/>
                        <a:cs typeface="Titillium Web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F9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0B1031"/>
                          </a:solidFill>
                          <a:latin typeface="Titillium Web" pitchFamily="34" charset="0"/>
                          <a:ea typeface="Titillium Web" pitchFamily="34" charset="-122"/>
                          <a:cs typeface="Titillium Web" pitchFamily="34" charset="-120"/>
                        </a:rPr>
                        <a:t>Binaria</a:t>
                      </a:r>
                      <a:endParaRPr lang="en-US" sz="1350" dirty="0">
                        <a:latin typeface="Titillium Web" charset="0"/>
                        <a:ea typeface="Titillium Web" charset="0"/>
                        <a:cs typeface="Titillium Web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0B1031"/>
                          </a:solidFill>
                          <a:latin typeface="Titillium Web" pitchFamily="34" charset="0"/>
                          <a:ea typeface="Titillium Web" pitchFamily="34" charset="-122"/>
                          <a:cs typeface="Titillium Web" pitchFamily="34" charset="-120"/>
                        </a:rPr>
                        <a:t>Sigmoide (1 neurona)</a:t>
                      </a:r>
                      <a:endParaRPr lang="en-US" sz="1350" dirty="0">
                        <a:latin typeface="Titillium Web" charset="0"/>
                        <a:ea typeface="Titillium Web" charset="0"/>
                        <a:cs typeface="Titillium Web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0B1031"/>
                          </a:solidFill>
                          <a:latin typeface="Titillium Web" pitchFamily="34" charset="0"/>
                          <a:ea typeface="Titillium Web" pitchFamily="34" charset="-122"/>
                          <a:cs typeface="Titillium Web" pitchFamily="34" charset="-120"/>
                        </a:rPr>
                        <a:t>Binary crossentropy</a:t>
                      </a:r>
                      <a:endParaRPr lang="en-US" sz="1350" dirty="0">
                        <a:latin typeface="Titillium Web" charset="0"/>
                        <a:ea typeface="Titillium Web" charset="0"/>
                        <a:cs typeface="Titillium Web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0B1031"/>
                          </a:solidFill>
                          <a:latin typeface="Titillium Web" pitchFamily="34" charset="0"/>
                          <a:ea typeface="Titillium Web" pitchFamily="34" charset="-122"/>
                          <a:cs typeface="Titillium Web" pitchFamily="34" charset="-120"/>
                        </a:rPr>
                        <a:t>Multiclase</a:t>
                      </a:r>
                      <a:endParaRPr lang="en-US" sz="1350" dirty="0">
                        <a:latin typeface="Titillium Web" charset="0"/>
                        <a:ea typeface="Titillium Web" charset="0"/>
                        <a:cs typeface="Titillium Web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0B1031"/>
                          </a:solidFill>
                          <a:latin typeface="Titillium Web" pitchFamily="34" charset="0"/>
                          <a:ea typeface="Titillium Web" pitchFamily="34" charset="-122"/>
                          <a:cs typeface="Titillium Web" pitchFamily="34" charset="-120"/>
                        </a:rPr>
                        <a:t>Softmax (n neuronas)</a:t>
                      </a:r>
                      <a:endParaRPr lang="en-US" sz="1350" dirty="0">
                        <a:latin typeface="Titillium Web" charset="0"/>
                        <a:ea typeface="Titillium Web" charset="0"/>
                        <a:cs typeface="Titillium Web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0B1031"/>
                          </a:solidFill>
                          <a:latin typeface="Titillium Web" pitchFamily="34" charset="0"/>
                          <a:ea typeface="Titillium Web" pitchFamily="34" charset="-122"/>
                          <a:cs typeface="Titillium Web" pitchFamily="34" charset="-120"/>
                        </a:rPr>
                        <a:t>Categorical crossentropy</a:t>
                      </a:r>
                      <a:endParaRPr lang="en-US" sz="1350" dirty="0">
                        <a:latin typeface="Titillium Web" charset="0"/>
                        <a:ea typeface="Titillium Web" charset="0"/>
                        <a:cs typeface="Titillium Web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0B1031"/>
                          </a:solidFill>
                          <a:latin typeface="Titillium Web" pitchFamily="34" charset="0"/>
                          <a:ea typeface="Titillium Web" pitchFamily="34" charset="-122"/>
                          <a:cs typeface="Titillium Web" pitchFamily="34" charset="-120"/>
                        </a:rPr>
                        <a:t>Multiclase (muchas clases)</a:t>
                      </a:r>
                      <a:endParaRPr lang="en-US" sz="1350" dirty="0">
                        <a:latin typeface="Titillium Web" charset="0"/>
                        <a:ea typeface="Titillium Web" charset="0"/>
                        <a:cs typeface="Titillium Web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0B1031"/>
                          </a:solidFill>
                          <a:latin typeface="Titillium Web" pitchFamily="34" charset="0"/>
                          <a:ea typeface="Titillium Web" pitchFamily="34" charset="-122"/>
                          <a:cs typeface="Titillium Web" pitchFamily="34" charset="-120"/>
                        </a:rPr>
                        <a:t>Softmax</a:t>
                      </a:r>
                      <a:endParaRPr lang="en-US" sz="1350" dirty="0">
                        <a:latin typeface="Titillium Web" charset="0"/>
                        <a:ea typeface="Titillium Web" charset="0"/>
                        <a:cs typeface="Titillium Web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0B1031"/>
                          </a:solidFill>
                          <a:latin typeface="Titillium Web" pitchFamily="34" charset="0"/>
                          <a:ea typeface="Titillium Web" pitchFamily="34" charset="-122"/>
                          <a:cs typeface="Titillium Web" pitchFamily="34" charset="-120"/>
                        </a:rPr>
                        <a:t>Sparse categorical crossentropy</a:t>
                      </a:r>
                      <a:endParaRPr lang="en-US" sz="1350" dirty="0">
                        <a:latin typeface="Titillium Web" charset="0"/>
                        <a:ea typeface="Titillium Web" charset="0"/>
                        <a:cs typeface="Titillium Web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0B1031"/>
                          </a:solidFill>
                          <a:latin typeface="Titillium Web" pitchFamily="34" charset="0"/>
                          <a:ea typeface="Titillium Web" pitchFamily="34" charset="-122"/>
                          <a:cs typeface="Titillium Web" pitchFamily="34" charset="-120"/>
                        </a:rPr>
                        <a:t>Multietiqueta</a:t>
                      </a:r>
                      <a:endParaRPr lang="en-US" sz="1350" dirty="0">
                        <a:latin typeface="Titillium Web" charset="0"/>
                        <a:ea typeface="Titillium Web" charset="0"/>
                        <a:cs typeface="Titillium Web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0B1031"/>
                          </a:solidFill>
                          <a:latin typeface="Titillium Web" pitchFamily="34" charset="0"/>
                          <a:ea typeface="Titillium Web" pitchFamily="34" charset="-122"/>
                          <a:cs typeface="Titillium Web" pitchFamily="34" charset="-120"/>
                        </a:rPr>
                        <a:t>Sigmoide (n neuronas)</a:t>
                      </a:r>
                      <a:endParaRPr lang="en-US" sz="1350" dirty="0">
                        <a:latin typeface="Titillium Web" charset="0"/>
                        <a:ea typeface="Titillium Web" charset="0"/>
                        <a:cs typeface="Titillium Web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0B1031"/>
                          </a:solidFill>
                          <a:latin typeface="Titillium Web" pitchFamily="34" charset="0"/>
                          <a:ea typeface="Titillium Web" pitchFamily="34" charset="-122"/>
                          <a:cs typeface="Titillium Web" pitchFamily="34" charset="-120"/>
                        </a:rPr>
                        <a:t>Binary crossentropy</a:t>
                      </a:r>
                      <a:endParaRPr lang="en-US" sz="1350" dirty="0">
                        <a:latin typeface="Titillium Web" charset="0"/>
                        <a:ea typeface="Titillium Web" charset="0"/>
                        <a:cs typeface="Titillium Web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 6"/>
          <p:cNvSpPr/>
          <p:nvPr/>
        </p:nvSpPr>
        <p:spPr>
          <a:xfrm>
            <a:off x="868680" y="5212080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F647E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Sparse crossentropy evita la codificación one-hot cuando hay muchísimas clases (ahorra memoria).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F9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FF647E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15544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67E3D4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❯❯❯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77240" y="2103120"/>
            <a:ext cx="8229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FF647E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Evaluación</a:t>
            </a:r>
            <a:endParaRPr lang="en-US" sz="6400" dirty="0"/>
          </a:p>
        </p:txBody>
      </p:sp>
      <p:sp>
        <p:nvSpPr>
          <p:cNvPr id="5" name="Text 3"/>
          <p:cNvSpPr/>
          <p:nvPr/>
        </p:nvSpPr>
        <p:spPr>
          <a:xfrm>
            <a:off x="822960" y="3657600"/>
            <a:ext cx="10424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Métricas de clasificación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841248" y="489204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9DDF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Cómo medimos si un clasificador es bueno</a:t>
            </a:r>
            <a:endParaRPr lang="en-US" sz="1800" dirty="0"/>
          </a:p>
        </p:txBody>
      </p:sp>
      <p:pic>
        <p:nvPicPr>
          <p:cNvPr id="7" name="Image 0" descr="logo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44200" y="6327648"/>
            <a:ext cx="1078992" cy="4114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11480" y="6327648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9DDF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4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146304" cy="566928"/>
          </a:xfrm>
          <a:prstGeom prst="rect">
            <a:avLst/>
          </a:prstGeom>
          <a:solidFill>
            <a:srgbClr val="FF647E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7E3D4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2.1 · MÉTRICAS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22960" y="731520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00F9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La matriz de confusión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48640" y="6199632"/>
            <a:ext cx="9966960" cy="0"/>
          </a:xfrm>
          <a:prstGeom prst="line">
            <a:avLst/>
          </a:prstGeom>
          <a:noFill/>
          <a:ln w="12700">
            <a:solidFill>
              <a:srgbClr val="D9DDFF"/>
            </a:solidFill>
            <a:prstDash val="solid"/>
          </a:ln>
        </p:spPr>
      </p:sp>
      <p:pic>
        <p:nvPicPr>
          <p:cNvPr id="6" name="Image 0" descr="logo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44200" y="6327648"/>
            <a:ext cx="1078992" cy="411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11480" y="6327648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079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5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68680" y="1645920"/>
            <a:ext cx="576072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800"/>
              </a:spcAft>
              <a:buSzPct val="100000"/>
              <a:buChar char="❯"/>
            </a:pPr>
            <a:r>
              <a:rPr lang="en-US" sz="1500" dirty="0">
                <a:solidFill>
                  <a:srgbClr val="0B1031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Tabla n×n que compara la clase real con la predicha sobre el test.</a:t>
            </a:r>
            <a:endParaRPr lang="en-US" sz="1500" dirty="0"/>
          </a:p>
          <a:p>
            <a:pPr marL="228600" indent="-228600">
              <a:spcAft>
                <a:spcPts val="800"/>
              </a:spcAft>
              <a:buSzPct val="100000"/>
              <a:buChar char="❯"/>
            </a:pPr>
            <a:r>
              <a:rPr lang="en-US" sz="1500" dirty="0">
                <a:solidFill>
                  <a:srgbClr val="0B1031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Muestra dónde se confunde el modelo.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6949440" y="2011680"/>
            <a:ext cx="2103120" cy="1371600"/>
          </a:xfrm>
          <a:prstGeom prst="rect">
            <a:avLst/>
          </a:prstGeom>
          <a:solidFill>
            <a:srgbClr val="00A38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949440" y="2176272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VP</a:t>
            </a:r>
            <a:endParaRPr lang="en-US" sz="2400" dirty="0"/>
          </a:p>
        </p:txBody>
      </p:sp>
      <p:sp>
        <p:nvSpPr>
          <p:cNvPr id="11" name="Text 8"/>
          <p:cNvSpPr/>
          <p:nvPr/>
        </p:nvSpPr>
        <p:spPr>
          <a:xfrm>
            <a:off x="6949440" y="278892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Real 1 · Pred 1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9052560" y="2011680"/>
            <a:ext cx="2103120" cy="1371600"/>
          </a:xfrm>
          <a:prstGeom prst="rect">
            <a:avLst/>
          </a:prstGeom>
          <a:solidFill>
            <a:srgbClr val="FF9BA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9052560" y="2176272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0F9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FN</a:t>
            </a:r>
            <a:endParaRPr lang="en-US" sz="2400" dirty="0"/>
          </a:p>
        </p:txBody>
      </p:sp>
      <p:sp>
        <p:nvSpPr>
          <p:cNvPr id="14" name="Text 11"/>
          <p:cNvSpPr/>
          <p:nvPr/>
        </p:nvSpPr>
        <p:spPr>
          <a:xfrm>
            <a:off x="9052560" y="278892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F9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Real 1 · Pred 0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6949440" y="3383280"/>
            <a:ext cx="2103120" cy="1371600"/>
          </a:xfrm>
          <a:prstGeom prst="rect">
            <a:avLst/>
          </a:prstGeom>
          <a:solidFill>
            <a:srgbClr val="FF9BA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949440" y="3547872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0F9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FP</a:t>
            </a:r>
            <a:endParaRPr lang="en-US" sz="2400" dirty="0"/>
          </a:p>
        </p:txBody>
      </p:sp>
      <p:sp>
        <p:nvSpPr>
          <p:cNvPr id="17" name="Text 14"/>
          <p:cNvSpPr/>
          <p:nvPr/>
        </p:nvSpPr>
        <p:spPr>
          <a:xfrm>
            <a:off x="6949440" y="416052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F9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Real 0 · Pred 1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9052560" y="3383280"/>
            <a:ext cx="2103120" cy="1371600"/>
          </a:xfrm>
          <a:prstGeom prst="rect">
            <a:avLst/>
          </a:prstGeom>
          <a:solidFill>
            <a:srgbClr val="00A38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9052560" y="3547872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VN</a:t>
            </a:r>
            <a:endParaRPr lang="en-US" sz="2400" dirty="0"/>
          </a:p>
        </p:txBody>
      </p:sp>
      <p:sp>
        <p:nvSpPr>
          <p:cNvPr id="20" name="Text 17"/>
          <p:cNvSpPr/>
          <p:nvPr/>
        </p:nvSpPr>
        <p:spPr>
          <a:xfrm>
            <a:off x="9052560" y="416052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Real 0 · Pred 0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6949440" y="164592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B6079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Predicho →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6949440" y="502920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F647E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VP/VN: aciertos · FP/FN: errores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146304" cy="566928"/>
          </a:xfrm>
          <a:prstGeom prst="rect">
            <a:avLst/>
          </a:prstGeom>
          <a:solidFill>
            <a:srgbClr val="FF647E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7E3D4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2.1 · MÉTRICAS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22960" y="731520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00F9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Métricas a partir de la matriz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48640" y="6199632"/>
            <a:ext cx="9966960" cy="0"/>
          </a:xfrm>
          <a:prstGeom prst="line">
            <a:avLst/>
          </a:prstGeom>
          <a:noFill/>
          <a:ln w="12700">
            <a:solidFill>
              <a:srgbClr val="D9DDFF"/>
            </a:solidFill>
            <a:prstDash val="solid"/>
          </a:ln>
        </p:spPr>
      </p:sp>
      <p:pic>
        <p:nvPicPr>
          <p:cNvPr id="6" name="Image 0" descr="logo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44200" y="6327648"/>
            <a:ext cx="1078992" cy="411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11480" y="6327648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079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6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868680" y="1828800"/>
            <a:ext cx="3383280" cy="1828800"/>
          </a:xfrm>
          <a:prstGeom prst="rect">
            <a:avLst/>
          </a:prstGeom>
          <a:solidFill>
            <a:srgbClr val="F4F6FF"/>
          </a:solidFill>
          <a:ln w="12700">
            <a:solidFill>
              <a:srgbClr val="D9DDFF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868680" y="1828800"/>
            <a:ext cx="3383280" cy="109728"/>
          </a:xfrm>
          <a:prstGeom prst="rect">
            <a:avLst/>
          </a:prstGeom>
          <a:solidFill>
            <a:srgbClr val="FF647E"/>
          </a:solidFill>
          <a:ln/>
        </p:spPr>
      </p:sp>
      <p:sp>
        <p:nvSpPr>
          <p:cNvPr id="10" name="Text 7"/>
          <p:cNvSpPr/>
          <p:nvPr/>
        </p:nvSpPr>
        <p:spPr>
          <a:xfrm>
            <a:off x="1069848" y="2011680"/>
            <a:ext cx="29809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0F9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Accuracy (exactitud)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1069848" y="2450592"/>
            <a:ext cx="2980944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0B1031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(VP+VN) / total. Cuidado: engañosa con clases desbalanceadas.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4434840" y="1828800"/>
            <a:ext cx="3383280" cy="1828800"/>
          </a:xfrm>
          <a:prstGeom prst="rect">
            <a:avLst/>
          </a:prstGeom>
          <a:solidFill>
            <a:srgbClr val="F4F6FF"/>
          </a:solidFill>
          <a:ln w="12700">
            <a:solidFill>
              <a:srgbClr val="D9DDFF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4434840" y="1828800"/>
            <a:ext cx="3383280" cy="109728"/>
          </a:xfrm>
          <a:prstGeom prst="rect">
            <a:avLst/>
          </a:prstGeom>
          <a:solidFill>
            <a:srgbClr val="4355FF"/>
          </a:solidFill>
          <a:ln/>
        </p:spPr>
      </p:sp>
      <p:sp>
        <p:nvSpPr>
          <p:cNvPr id="14" name="Text 11"/>
          <p:cNvSpPr/>
          <p:nvPr/>
        </p:nvSpPr>
        <p:spPr>
          <a:xfrm>
            <a:off x="4636008" y="2011680"/>
            <a:ext cx="29809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0F9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Tasa de error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4636008" y="2450592"/>
            <a:ext cx="2980944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0B1031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1 menos accuracy. Proporción de ejemplos mal clasificados.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8001000" y="1828800"/>
            <a:ext cx="3383280" cy="1828800"/>
          </a:xfrm>
          <a:prstGeom prst="rect">
            <a:avLst/>
          </a:prstGeom>
          <a:solidFill>
            <a:srgbClr val="F4F6FF"/>
          </a:solidFill>
          <a:ln w="12700">
            <a:solidFill>
              <a:srgbClr val="D9DDFF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8001000" y="1828800"/>
            <a:ext cx="3383280" cy="109728"/>
          </a:xfrm>
          <a:prstGeom prst="rect">
            <a:avLst/>
          </a:prstGeom>
          <a:solidFill>
            <a:srgbClr val="67E3D4"/>
          </a:solidFill>
          <a:ln/>
        </p:spPr>
      </p:sp>
      <p:sp>
        <p:nvSpPr>
          <p:cNvPr id="18" name="Text 15"/>
          <p:cNvSpPr/>
          <p:nvPr/>
        </p:nvSpPr>
        <p:spPr>
          <a:xfrm>
            <a:off x="8202168" y="2011680"/>
            <a:ext cx="29809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0F9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Precision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8202168" y="2450592"/>
            <a:ext cx="2980944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0B1031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VP / (VP+FP). De lo que predigo positivo, cuánto acierto.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868680" y="3886200"/>
            <a:ext cx="3383280" cy="1828800"/>
          </a:xfrm>
          <a:prstGeom prst="rect">
            <a:avLst/>
          </a:prstGeom>
          <a:solidFill>
            <a:srgbClr val="F4F6FF"/>
          </a:solidFill>
          <a:ln w="12700">
            <a:solidFill>
              <a:srgbClr val="D9DDFF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868680" y="3886200"/>
            <a:ext cx="3383280" cy="109728"/>
          </a:xfrm>
          <a:prstGeom prst="rect">
            <a:avLst/>
          </a:prstGeom>
          <a:solidFill>
            <a:srgbClr val="000F9F"/>
          </a:solidFill>
          <a:ln/>
        </p:spPr>
      </p:sp>
      <p:sp>
        <p:nvSpPr>
          <p:cNvPr id="22" name="Text 19"/>
          <p:cNvSpPr/>
          <p:nvPr/>
        </p:nvSpPr>
        <p:spPr>
          <a:xfrm>
            <a:off x="1069848" y="4069080"/>
            <a:ext cx="29809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0F9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Recall (exhaustividad)</a:t>
            </a:r>
            <a:endParaRPr lang="en-US" sz="1500" dirty="0"/>
          </a:p>
        </p:txBody>
      </p:sp>
      <p:sp>
        <p:nvSpPr>
          <p:cNvPr id="23" name="Text 20"/>
          <p:cNvSpPr/>
          <p:nvPr/>
        </p:nvSpPr>
        <p:spPr>
          <a:xfrm>
            <a:off x="1069848" y="4507992"/>
            <a:ext cx="2980944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0B1031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VP / (VP+FN). De los positivos reales, cuántos detecto.</a:t>
            </a:r>
            <a:endParaRPr lang="en-US" sz="1200" dirty="0"/>
          </a:p>
        </p:txBody>
      </p:sp>
      <p:sp>
        <p:nvSpPr>
          <p:cNvPr id="24" name="Shape 21"/>
          <p:cNvSpPr/>
          <p:nvPr/>
        </p:nvSpPr>
        <p:spPr>
          <a:xfrm>
            <a:off x="4434840" y="3886200"/>
            <a:ext cx="3383280" cy="1828800"/>
          </a:xfrm>
          <a:prstGeom prst="rect">
            <a:avLst/>
          </a:prstGeom>
          <a:solidFill>
            <a:srgbClr val="F4F6FF"/>
          </a:solidFill>
          <a:ln w="12700">
            <a:solidFill>
              <a:srgbClr val="D9DDFF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4434840" y="3886200"/>
            <a:ext cx="3383280" cy="109728"/>
          </a:xfrm>
          <a:prstGeom prst="rect">
            <a:avLst/>
          </a:prstGeom>
          <a:solidFill>
            <a:srgbClr val="00A38C"/>
          </a:solidFill>
          <a:ln/>
        </p:spPr>
      </p:sp>
      <p:sp>
        <p:nvSpPr>
          <p:cNvPr id="26" name="Text 23"/>
          <p:cNvSpPr/>
          <p:nvPr/>
        </p:nvSpPr>
        <p:spPr>
          <a:xfrm>
            <a:off x="4636008" y="4069080"/>
            <a:ext cx="29809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0F9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Especificidad</a:t>
            </a:r>
            <a:endParaRPr lang="en-US" sz="1500" dirty="0"/>
          </a:p>
        </p:txBody>
      </p:sp>
      <p:sp>
        <p:nvSpPr>
          <p:cNvPr id="27" name="Text 24"/>
          <p:cNvSpPr/>
          <p:nvPr/>
        </p:nvSpPr>
        <p:spPr>
          <a:xfrm>
            <a:off x="4636008" y="4507992"/>
            <a:ext cx="2980944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0B1031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VN / (VN+FP). De los negativos reales, cuántos detecto.</a:t>
            </a:r>
            <a:endParaRPr lang="en-US" sz="1200" dirty="0"/>
          </a:p>
        </p:txBody>
      </p:sp>
      <p:sp>
        <p:nvSpPr>
          <p:cNvPr id="28" name="Shape 25"/>
          <p:cNvSpPr/>
          <p:nvPr/>
        </p:nvSpPr>
        <p:spPr>
          <a:xfrm>
            <a:off x="8001000" y="3886200"/>
            <a:ext cx="3383280" cy="1828800"/>
          </a:xfrm>
          <a:prstGeom prst="rect">
            <a:avLst/>
          </a:prstGeom>
          <a:solidFill>
            <a:srgbClr val="F4F6FF"/>
          </a:solidFill>
          <a:ln w="12700">
            <a:solidFill>
              <a:srgbClr val="D9DDFF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8001000" y="3886200"/>
            <a:ext cx="3383280" cy="109728"/>
          </a:xfrm>
          <a:prstGeom prst="rect">
            <a:avLst/>
          </a:prstGeom>
          <a:solidFill>
            <a:srgbClr val="FF647E"/>
          </a:solidFill>
          <a:ln/>
        </p:spPr>
      </p:sp>
      <p:sp>
        <p:nvSpPr>
          <p:cNvPr id="30" name="Text 27"/>
          <p:cNvSpPr/>
          <p:nvPr/>
        </p:nvSpPr>
        <p:spPr>
          <a:xfrm>
            <a:off x="8202168" y="4069080"/>
            <a:ext cx="29809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0F9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F1-Score</a:t>
            </a:r>
            <a:endParaRPr lang="en-US" sz="1500" dirty="0"/>
          </a:p>
        </p:txBody>
      </p:sp>
      <p:sp>
        <p:nvSpPr>
          <p:cNvPr id="31" name="Text 28"/>
          <p:cNvSpPr/>
          <p:nvPr/>
        </p:nvSpPr>
        <p:spPr>
          <a:xfrm>
            <a:off x="8202168" y="4507992"/>
            <a:ext cx="2980944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0B1031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Media armónica de precision y recall. Equilibra ambas.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146304" cy="566928"/>
          </a:xfrm>
          <a:prstGeom prst="rect">
            <a:avLst/>
          </a:prstGeom>
          <a:solidFill>
            <a:srgbClr val="FF647E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7E3D4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2.1 · MÉTRICAS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22960" y="731520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00F9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Precision vs. Recall: una tensión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48640" y="6199632"/>
            <a:ext cx="9966960" cy="0"/>
          </a:xfrm>
          <a:prstGeom prst="line">
            <a:avLst/>
          </a:prstGeom>
          <a:noFill/>
          <a:ln w="12700">
            <a:solidFill>
              <a:srgbClr val="D9DDFF"/>
            </a:solidFill>
            <a:prstDash val="solid"/>
          </a:ln>
        </p:spPr>
      </p:sp>
      <p:pic>
        <p:nvPicPr>
          <p:cNvPr id="6" name="Image 0" descr="logo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44200" y="6327648"/>
            <a:ext cx="1078992" cy="411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11480" y="6327648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079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7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68680" y="1828800"/>
            <a:ext cx="1042416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800"/>
              </a:spcAft>
              <a:buSzPct val="100000"/>
              <a:buChar char="❯"/>
            </a:pPr>
            <a:r>
              <a:rPr lang="en-US" sz="1600" b="1" dirty="0">
                <a:solidFill>
                  <a:srgbClr val="FF647E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Suelen estar en conflicto: subir una baja la otra.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❯"/>
            </a:pPr>
            <a:r>
              <a:rPr lang="en-US" sz="1600" dirty="0">
                <a:solidFill>
                  <a:srgbClr val="0B1031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Prioriza precision cuando un falso positivo es caro (marcar como spam un correo importante).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❯"/>
            </a:pPr>
            <a:r>
              <a:rPr lang="en-US" sz="1600" dirty="0">
                <a:solidFill>
                  <a:srgbClr val="0B1031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Prioriza recall cuando un falso negativo es peligroso (no detectar una enfermedad).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❯"/>
            </a:pPr>
            <a:r>
              <a:rPr lang="en-US" sz="1600" dirty="0">
                <a:solidFill>
                  <a:srgbClr val="0B1031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F1-Score resume ambas; Fβ permite dar más peso al recall (β alto) o a la precision (β bajo).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❯"/>
            </a:pPr>
            <a:r>
              <a:rPr lang="en-US" sz="1600" dirty="0">
                <a:solidFill>
                  <a:srgbClr val="0B1031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Con clases desbalanceadas, prefiere precision/recall/F1 antes que accuracy.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00F9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FF647E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15544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67E3D4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❯❯❯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77240" y="2103120"/>
            <a:ext cx="8229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FF647E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Práctica</a:t>
            </a:r>
            <a:endParaRPr lang="en-US" sz="6400" dirty="0"/>
          </a:p>
        </p:txBody>
      </p:sp>
      <p:sp>
        <p:nvSpPr>
          <p:cNvPr id="5" name="Text 3"/>
          <p:cNvSpPr/>
          <p:nvPr/>
        </p:nvSpPr>
        <p:spPr>
          <a:xfrm>
            <a:off x="822960" y="3657600"/>
            <a:ext cx="10424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Construir clasificadores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841248" y="489204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9DDF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El mismo esquema con Keras, adaptado a cada tipo</a:t>
            </a:r>
            <a:endParaRPr lang="en-US" sz="1800" dirty="0"/>
          </a:p>
        </p:txBody>
      </p:sp>
      <p:pic>
        <p:nvPicPr>
          <p:cNvPr id="7" name="Image 0" descr="logo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44200" y="6327648"/>
            <a:ext cx="1078992" cy="4114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11480" y="6327648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9DDF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8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146304" cy="566928"/>
          </a:xfrm>
          <a:prstGeom prst="rect">
            <a:avLst/>
          </a:prstGeom>
          <a:solidFill>
            <a:srgbClr val="FF647E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7E3D4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2.1 · CLASIFICACIÓN BINARIA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22960" y="731520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00F9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Clasificador binario (cáncer de mama)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48640" y="6199632"/>
            <a:ext cx="9966960" cy="0"/>
          </a:xfrm>
          <a:prstGeom prst="line">
            <a:avLst/>
          </a:prstGeom>
          <a:noFill/>
          <a:ln w="12700">
            <a:solidFill>
              <a:srgbClr val="D9DDFF"/>
            </a:solidFill>
            <a:prstDash val="solid"/>
          </a:ln>
        </p:spPr>
      </p:sp>
      <p:pic>
        <p:nvPicPr>
          <p:cNvPr id="6" name="Image 0" descr="logo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44200" y="6327648"/>
            <a:ext cx="1078992" cy="411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11480" y="6327648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079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9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68680" y="1554480"/>
            <a:ext cx="10424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B1031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Preparación de datos, red y entrenamiento. Salida sigmoide + binary crossentropy.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868680" y="2103120"/>
            <a:ext cx="1042416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800"/>
              </a:spcAft>
              <a:buSzPct val="100000"/>
              <a:buChar char="❯"/>
            </a:pPr>
            <a:r>
              <a:rPr lang="en-US" sz="1400" dirty="0">
                <a:solidFill>
                  <a:srgbClr val="0B1031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Preparar: quitar el identificador, sustituir valores ?, pasar la clase de 2/4 a 0/1, generar train/test.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914400" y="2926080"/>
            <a:ext cx="2286000" cy="914400"/>
          </a:xfrm>
          <a:prstGeom prst="roundRect">
            <a:avLst>
              <a:gd name="adj" fmla="val 8000"/>
            </a:avLst>
          </a:prstGeom>
          <a:solidFill>
            <a:srgbClr val="4355FF"/>
          </a:solidFill>
          <a:ln w="12700">
            <a:solidFill>
              <a:srgbClr val="4355F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960120" y="292608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Entrada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(9 atributos)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3840480" y="2926080"/>
            <a:ext cx="2651760" cy="914400"/>
          </a:xfrm>
          <a:prstGeom prst="roundRect">
            <a:avLst>
              <a:gd name="adj" fmla="val 8000"/>
            </a:avLst>
          </a:prstGeom>
          <a:solidFill>
            <a:srgbClr val="000F9F"/>
          </a:solidFill>
          <a:ln w="12700">
            <a:solidFill>
              <a:srgbClr val="000F9F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886200" y="2926080"/>
            <a:ext cx="2560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Dense 18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ReLU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7132320" y="2926080"/>
            <a:ext cx="2651760" cy="914400"/>
          </a:xfrm>
          <a:prstGeom prst="roundRect">
            <a:avLst>
              <a:gd name="adj" fmla="val 8000"/>
            </a:avLst>
          </a:prstGeom>
          <a:solidFill>
            <a:srgbClr val="FF647E"/>
          </a:solidFill>
          <a:ln w="12700">
            <a:solidFill>
              <a:srgbClr val="FF647E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178040" y="2926080"/>
            <a:ext cx="2560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Dense 1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Sigmoide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3200400" y="3383280"/>
            <a:ext cx="640080" cy="0"/>
          </a:xfrm>
          <a:prstGeom prst="line">
            <a:avLst/>
          </a:prstGeom>
          <a:noFill/>
          <a:ln w="31750">
            <a:solidFill>
              <a:srgbClr val="000F9F"/>
            </a:solidFill>
            <a:prstDash val="solid"/>
            <a:tailEnd type="triangle"/>
          </a:ln>
        </p:spPr>
      </p:sp>
      <p:sp>
        <p:nvSpPr>
          <p:cNvPr id="17" name="Shape 14"/>
          <p:cNvSpPr/>
          <p:nvPr/>
        </p:nvSpPr>
        <p:spPr>
          <a:xfrm>
            <a:off x="6492240" y="3383280"/>
            <a:ext cx="640080" cy="0"/>
          </a:xfrm>
          <a:prstGeom prst="line">
            <a:avLst/>
          </a:prstGeom>
          <a:noFill/>
          <a:ln w="31750">
            <a:solidFill>
              <a:srgbClr val="000F9F"/>
            </a:solidFill>
            <a:prstDash val="solid"/>
            <a:tailEnd type="triangle"/>
          </a:ln>
        </p:spPr>
      </p:sp>
      <p:sp>
        <p:nvSpPr>
          <p:cNvPr id="18" name="Text 15"/>
          <p:cNvSpPr/>
          <p:nvPr/>
        </p:nvSpPr>
        <p:spPr>
          <a:xfrm>
            <a:off x="868680" y="4297680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F647E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Optimizador SGD · Pérdida binary crossentropy · Métrica accuracy · 25 épocas, batch 100.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146304" cy="566928"/>
          </a:xfrm>
          <a:prstGeom prst="rect">
            <a:avLst/>
          </a:prstGeom>
          <a:solidFill>
            <a:srgbClr val="FF647E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7E3D4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2.1 · CLASIFICACIÓN MULTICLASE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22960" y="731520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00F9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Clasificador multiclase (Iris)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48640" y="6199632"/>
            <a:ext cx="9966960" cy="0"/>
          </a:xfrm>
          <a:prstGeom prst="line">
            <a:avLst/>
          </a:prstGeom>
          <a:noFill/>
          <a:ln w="12700">
            <a:solidFill>
              <a:srgbClr val="D9DDFF"/>
            </a:solidFill>
            <a:prstDash val="solid"/>
          </a:ln>
        </p:spPr>
      </p:sp>
      <p:pic>
        <p:nvPicPr>
          <p:cNvPr id="6" name="Image 0" descr="logo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44200" y="6327648"/>
            <a:ext cx="1078992" cy="411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11480" y="6327648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079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10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68680" y="1554480"/>
            <a:ext cx="10424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B1031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Tres especies de flor. Salida softmax (probabilidad por clase) + categorical crossentropy.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868680" y="2103120"/>
            <a:ext cx="1042416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800"/>
              </a:spcAft>
              <a:buSzPct val="100000"/>
              <a:buChar char="❯"/>
            </a:pPr>
            <a:r>
              <a:rPr lang="en-US" sz="1400" dirty="0">
                <a:solidFill>
                  <a:srgbClr val="0B1031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Preparar: codificar las clases (texto a número) y aplicar one-hot.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914400" y="2926080"/>
            <a:ext cx="2286000" cy="914400"/>
          </a:xfrm>
          <a:prstGeom prst="roundRect">
            <a:avLst>
              <a:gd name="adj" fmla="val 8000"/>
            </a:avLst>
          </a:prstGeom>
          <a:solidFill>
            <a:srgbClr val="4355FF"/>
          </a:solidFill>
          <a:ln w="12700">
            <a:solidFill>
              <a:srgbClr val="4355F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960120" y="292608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Entrada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(4 atributos)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3840480" y="2926080"/>
            <a:ext cx="2651760" cy="914400"/>
          </a:xfrm>
          <a:prstGeom prst="roundRect">
            <a:avLst>
              <a:gd name="adj" fmla="val 8000"/>
            </a:avLst>
          </a:prstGeom>
          <a:solidFill>
            <a:srgbClr val="000F9F"/>
          </a:solidFill>
          <a:ln w="12700">
            <a:solidFill>
              <a:srgbClr val="000F9F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886200" y="2926080"/>
            <a:ext cx="2560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Dense 8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ReLU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7132320" y="2926080"/>
            <a:ext cx="2651760" cy="914400"/>
          </a:xfrm>
          <a:prstGeom prst="roundRect">
            <a:avLst>
              <a:gd name="adj" fmla="val 8000"/>
            </a:avLst>
          </a:prstGeom>
          <a:solidFill>
            <a:srgbClr val="00A38C"/>
          </a:solidFill>
          <a:ln w="12700">
            <a:solidFill>
              <a:srgbClr val="00A38C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178040" y="2926080"/>
            <a:ext cx="2560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Dense 3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Softmax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3200400" y="3383280"/>
            <a:ext cx="640080" cy="0"/>
          </a:xfrm>
          <a:prstGeom prst="line">
            <a:avLst/>
          </a:prstGeom>
          <a:noFill/>
          <a:ln w="31750">
            <a:solidFill>
              <a:srgbClr val="000F9F"/>
            </a:solidFill>
            <a:prstDash val="solid"/>
            <a:tailEnd type="triangle"/>
          </a:ln>
        </p:spPr>
      </p:sp>
      <p:sp>
        <p:nvSpPr>
          <p:cNvPr id="17" name="Shape 14"/>
          <p:cNvSpPr/>
          <p:nvPr/>
        </p:nvSpPr>
        <p:spPr>
          <a:xfrm>
            <a:off x="6492240" y="3383280"/>
            <a:ext cx="640080" cy="0"/>
          </a:xfrm>
          <a:prstGeom prst="line">
            <a:avLst/>
          </a:prstGeom>
          <a:noFill/>
          <a:ln w="31750">
            <a:solidFill>
              <a:srgbClr val="000F9F"/>
            </a:solidFill>
            <a:prstDash val="solid"/>
            <a:tailEnd type="triangle"/>
          </a:ln>
        </p:spPr>
      </p:sp>
      <p:sp>
        <p:nvSpPr>
          <p:cNvPr id="18" name="Text 15"/>
          <p:cNvSpPr/>
          <p:nvPr/>
        </p:nvSpPr>
        <p:spPr>
          <a:xfrm>
            <a:off x="868680" y="4297680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F647E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Optimizador Adam · Pérdida categorical crossentropy · 250 épocas. La salida suma 1 (probabilidades).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146304" cy="566928"/>
          </a:xfrm>
          <a:prstGeom prst="rect">
            <a:avLst/>
          </a:prstGeom>
          <a:solidFill>
            <a:srgbClr val="FF647E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7E3D4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2.1 · CLASIFICACIÓN MULTIETIQUETA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22960" y="731520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00F9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Clasificador multietiqueta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48640" y="6199632"/>
            <a:ext cx="9966960" cy="0"/>
          </a:xfrm>
          <a:prstGeom prst="line">
            <a:avLst/>
          </a:prstGeom>
          <a:noFill/>
          <a:ln w="12700">
            <a:solidFill>
              <a:srgbClr val="D9DDFF"/>
            </a:solidFill>
            <a:prstDash val="solid"/>
          </a:ln>
        </p:spPr>
      </p:sp>
      <p:pic>
        <p:nvPicPr>
          <p:cNvPr id="6" name="Image 0" descr="logo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44200" y="6327648"/>
            <a:ext cx="1078992" cy="411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11480" y="6327648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079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11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68680" y="1828800"/>
            <a:ext cx="1042416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800"/>
              </a:spcAft>
              <a:buSzPct val="100000"/>
              <a:buChar char="❯"/>
            </a:pPr>
            <a:r>
              <a:rPr lang="en-US" sz="1600" dirty="0">
                <a:solidFill>
                  <a:srgbClr val="0B1031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Cada ejemplo puede tener varias etiquetas a la vez.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❯"/>
            </a:pPr>
            <a:r>
              <a:rPr lang="en-US" sz="1600" b="1" dirty="0">
                <a:solidFill>
                  <a:srgbClr val="FF647E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La capa de salida usa sigmoide (no softmax): cada neurona da una probabilidad independiente por clase.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❯"/>
            </a:pPr>
            <a:r>
              <a:rPr lang="en-US" sz="1600" dirty="0">
                <a:solidFill>
                  <a:srgbClr val="0B1031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Arquitectura del ejemplo: Dense 32 (ReLU) y Dense 5 (Sigmoide), con 5 clases posibles.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❯"/>
            </a:pPr>
            <a:r>
              <a:rPr lang="en-US" sz="1600" dirty="0">
                <a:solidFill>
                  <a:srgbClr val="0B1031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Se decide cada clase por separado con un umbral (p. ej. 0,5).</a:t>
            </a:r>
            <a:endParaRPr lang="en-US" sz="1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146304" cy="566928"/>
          </a:xfrm>
          <a:prstGeom prst="rect">
            <a:avLst/>
          </a:prstGeom>
          <a:solidFill>
            <a:srgbClr val="FF647E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7E3D4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2.1 · HIPERPARÁMETROS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22960" y="731520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00F9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Optimización de hiperparámetros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48640" y="6199632"/>
            <a:ext cx="9966960" cy="0"/>
          </a:xfrm>
          <a:prstGeom prst="line">
            <a:avLst/>
          </a:prstGeom>
          <a:noFill/>
          <a:ln w="12700">
            <a:solidFill>
              <a:srgbClr val="D9DDFF"/>
            </a:solidFill>
            <a:prstDash val="solid"/>
          </a:ln>
        </p:spPr>
      </p:sp>
      <p:pic>
        <p:nvPicPr>
          <p:cNvPr id="6" name="Image 0" descr="logo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44200" y="6327648"/>
            <a:ext cx="1078992" cy="411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11480" y="6327648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079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12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68680" y="1737360"/>
            <a:ext cx="1042416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800"/>
              </a:spcAft>
              <a:buSzPct val="100000"/>
              <a:buChar char="❯"/>
            </a:pPr>
            <a:r>
              <a:rPr lang="en-US" sz="1500" dirty="0">
                <a:solidFill>
                  <a:srgbClr val="0B1031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Los hiperparámetros configuran el entrenamiento (no se aprenden de los datos):</a:t>
            </a:r>
            <a:endParaRPr lang="en-US" sz="1500" dirty="0"/>
          </a:p>
          <a:p>
            <a:pPr lvl="1" marL="406400" indent="-203200">
              <a:spcAft>
                <a:spcPts val="800"/>
              </a:spcAft>
              <a:buSzPct val="100000"/>
              <a:buChar char="–"/>
            </a:pPr>
            <a:r>
              <a:rPr lang="en-US" sz="1500" dirty="0">
                <a:solidFill>
                  <a:srgbClr val="0B1031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tasa de aprendizaje · tamaño de batch · nº de capas ocultas · nº de neuronas por capa.</a:t>
            </a:r>
            <a:endParaRPr lang="en-US" sz="1500" dirty="0"/>
          </a:p>
          <a:p>
            <a:pPr marL="228600" indent="-228600">
              <a:spcAft>
                <a:spcPts val="800"/>
              </a:spcAft>
              <a:buSzPct val="100000"/>
              <a:buChar char="❯"/>
            </a:pPr>
            <a:r>
              <a:rPr lang="en-US" sz="1500" dirty="0">
                <a:solidFill>
                  <a:srgbClr val="0B1031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Optimizar = buscar la combinación que da el mejor modelo (costoso en cómputo).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868680" y="3566160"/>
            <a:ext cx="5212080" cy="2103120"/>
          </a:xfrm>
          <a:prstGeom prst="rect">
            <a:avLst/>
          </a:prstGeom>
          <a:solidFill>
            <a:srgbClr val="F4F6FF"/>
          </a:solidFill>
          <a:ln w="12700">
            <a:solidFill>
              <a:srgbClr val="D9DDFF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868680" y="3566160"/>
            <a:ext cx="5212080" cy="109728"/>
          </a:xfrm>
          <a:prstGeom prst="rect">
            <a:avLst/>
          </a:prstGeom>
          <a:solidFill>
            <a:srgbClr val="FF647E"/>
          </a:solidFill>
          <a:ln/>
        </p:spPr>
      </p:sp>
      <p:sp>
        <p:nvSpPr>
          <p:cNvPr id="11" name="Text 8"/>
          <p:cNvSpPr/>
          <p:nvPr/>
        </p:nvSpPr>
        <p:spPr>
          <a:xfrm>
            <a:off x="1069848" y="3749040"/>
            <a:ext cx="48097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0F9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Búsqueda aleatoria (Random Search)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1069848" y="4187952"/>
            <a:ext cx="4809744" cy="1335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0B1031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Prueba combinaciones al azar dentro del espacio válido. Eficiente para explorar muchas opciones.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6263640" y="3566160"/>
            <a:ext cx="5120640" cy="2103120"/>
          </a:xfrm>
          <a:prstGeom prst="rect">
            <a:avLst/>
          </a:prstGeom>
          <a:solidFill>
            <a:srgbClr val="F4F6FF"/>
          </a:solidFill>
          <a:ln w="12700">
            <a:solidFill>
              <a:srgbClr val="D9DDFF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6263640" y="3566160"/>
            <a:ext cx="5120640" cy="109728"/>
          </a:xfrm>
          <a:prstGeom prst="rect">
            <a:avLst/>
          </a:prstGeom>
          <a:solidFill>
            <a:srgbClr val="4355FF"/>
          </a:solidFill>
          <a:ln/>
        </p:spPr>
      </p:sp>
      <p:sp>
        <p:nvSpPr>
          <p:cNvPr id="15" name="Text 12"/>
          <p:cNvSpPr/>
          <p:nvPr/>
        </p:nvSpPr>
        <p:spPr>
          <a:xfrm>
            <a:off x="6464808" y="3749040"/>
            <a:ext cx="47183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0F9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Búsqueda en cuadrícula (Grid Search)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6464808" y="4187952"/>
            <a:ext cx="4718304" cy="1335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0B1031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Prueba todas las combinaciones de una rejilla. Exhaustiva pero muy costosa.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146304" cy="566928"/>
          </a:xfrm>
          <a:prstGeom prst="rect">
            <a:avLst/>
          </a:prstGeom>
          <a:solidFill>
            <a:srgbClr val="FF647E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7E3D4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2.1 · HIPERPARÁMETROS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22960" y="731520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00F9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El proceso de optimización (4 fases)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48640" y="6199632"/>
            <a:ext cx="9966960" cy="0"/>
          </a:xfrm>
          <a:prstGeom prst="line">
            <a:avLst/>
          </a:prstGeom>
          <a:noFill/>
          <a:ln w="12700">
            <a:solidFill>
              <a:srgbClr val="D9DDFF"/>
            </a:solidFill>
            <a:prstDash val="solid"/>
          </a:ln>
        </p:spPr>
      </p:sp>
      <p:pic>
        <p:nvPicPr>
          <p:cNvPr id="6" name="Image 0" descr="logo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44200" y="6327648"/>
            <a:ext cx="1078992" cy="411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11480" y="6327648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079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13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868680" y="2011680"/>
            <a:ext cx="685800" cy="685800"/>
          </a:xfrm>
          <a:prstGeom prst="ellipse">
            <a:avLst/>
          </a:prstGeom>
          <a:solidFill>
            <a:srgbClr val="FF647E"/>
          </a:solidFill>
          <a:ln/>
        </p:spPr>
      </p:sp>
      <p:sp>
        <p:nvSpPr>
          <p:cNvPr id="9" name="Text 6"/>
          <p:cNvSpPr/>
          <p:nvPr/>
        </p:nvSpPr>
        <p:spPr>
          <a:xfrm>
            <a:off x="868680" y="201168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1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1783080" y="2011680"/>
            <a:ext cx="4572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0F9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Definir hiperparámetros</a:t>
            </a:r>
            <a:endParaRPr lang="en-US" sz="1700" dirty="0"/>
          </a:p>
        </p:txBody>
      </p:sp>
      <p:sp>
        <p:nvSpPr>
          <p:cNvPr id="11" name="Text 8"/>
          <p:cNvSpPr/>
          <p:nvPr/>
        </p:nvSpPr>
        <p:spPr>
          <a:xfrm>
            <a:off x="6400800" y="2011680"/>
            <a:ext cx="5120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079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Qué valores puede tomar cada uno (rangos).</a:t>
            </a:r>
            <a:endParaRPr lang="en-US" sz="1350" dirty="0"/>
          </a:p>
        </p:txBody>
      </p:sp>
      <p:sp>
        <p:nvSpPr>
          <p:cNvPr id="12" name="Shape 9"/>
          <p:cNvSpPr/>
          <p:nvPr/>
        </p:nvSpPr>
        <p:spPr>
          <a:xfrm>
            <a:off x="1207008" y="2697480"/>
            <a:ext cx="0" cy="274320"/>
          </a:xfrm>
          <a:prstGeom prst="line">
            <a:avLst/>
          </a:prstGeom>
          <a:noFill/>
          <a:ln w="25400">
            <a:solidFill>
              <a:srgbClr val="D9DDFF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868680" y="2971800"/>
            <a:ext cx="685800" cy="685800"/>
          </a:xfrm>
          <a:prstGeom prst="ellipse">
            <a:avLst/>
          </a:prstGeom>
          <a:solidFill>
            <a:srgbClr val="FF647E"/>
          </a:solidFill>
          <a:ln/>
        </p:spPr>
      </p:sp>
      <p:sp>
        <p:nvSpPr>
          <p:cNvPr id="14" name="Text 11"/>
          <p:cNvSpPr/>
          <p:nvPr/>
        </p:nvSpPr>
        <p:spPr>
          <a:xfrm>
            <a:off x="868680" y="297180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2</a:t>
            </a:r>
            <a:endParaRPr lang="en-US" sz="2200" dirty="0"/>
          </a:p>
        </p:txBody>
      </p:sp>
      <p:sp>
        <p:nvSpPr>
          <p:cNvPr id="15" name="Text 12"/>
          <p:cNvSpPr/>
          <p:nvPr/>
        </p:nvSpPr>
        <p:spPr>
          <a:xfrm>
            <a:off x="1783080" y="2971800"/>
            <a:ext cx="4572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0F9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Elegir el algoritmo de búsqueda</a:t>
            </a:r>
            <a:endParaRPr lang="en-US" sz="1700" dirty="0"/>
          </a:p>
        </p:txBody>
      </p:sp>
      <p:sp>
        <p:nvSpPr>
          <p:cNvPr id="16" name="Text 13"/>
          <p:cNvSpPr/>
          <p:nvPr/>
        </p:nvSpPr>
        <p:spPr>
          <a:xfrm>
            <a:off x="6400800" y="2971800"/>
            <a:ext cx="5120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079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Random, grid, bayesiana y su configuración.</a:t>
            </a:r>
            <a:endParaRPr lang="en-US" sz="1350" dirty="0"/>
          </a:p>
        </p:txBody>
      </p:sp>
      <p:sp>
        <p:nvSpPr>
          <p:cNvPr id="17" name="Shape 14"/>
          <p:cNvSpPr/>
          <p:nvPr/>
        </p:nvSpPr>
        <p:spPr>
          <a:xfrm>
            <a:off x="1207008" y="3657600"/>
            <a:ext cx="0" cy="274320"/>
          </a:xfrm>
          <a:prstGeom prst="line">
            <a:avLst/>
          </a:prstGeom>
          <a:noFill/>
          <a:ln w="25400">
            <a:solidFill>
              <a:srgbClr val="D9DDFF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868680" y="3931920"/>
            <a:ext cx="685800" cy="685800"/>
          </a:xfrm>
          <a:prstGeom prst="ellipse">
            <a:avLst/>
          </a:prstGeom>
          <a:solidFill>
            <a:srgbClr val="000F9F"/>
          </a:solidFill>
          <a:ln/>
        </p:spPr>
      </p:sp>
      <p:sp>
        <p:nvSpPr>
          <p:cNvPr id="19" name="Text 16"/>
          <p:cNvSpPr/>
          <p:nvPr/>
        </p:nvSpPr>
        <p:spPr>
          <a:xfrm>
            <a:off x="868680" y="393192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3</a:t>
            </a:r>
            <a:endParaRPr lang="en-US" sz="2200" dirty="0"/>
          </a:p>
        </p:txBody>
      </p:sp>
      <p:sp>
        <p:nvSpPr>
          <p:cNvPr id="20" name="Text 17"/>
          <p:cNvSpPr/>
          <p:nvPr/>
        </p:nvSpPr>
        <p:spPr>
          <a:xfrm>
            <a:off x="1783080" y="3931920"/>
            <a:ext cx="4572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0F9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Buscar</a:t>
            </a:r>
            <a:endParaRPr lang="en-US" sz="1700" dirty="0"/>
          </a:p>
        </p:txBody>
      </p:sp>
      <p:sp>
        <p:nvSpPr>
          <p:cNvPr id="21" name="Text 18"/>
          <p:cNvSpPr/>
          <p:nvPr/>
        </p:nvSpPr>
        <p:spPr>
          <a:xfrm>
            <a:off x="6400800" y="3931920"/>
            <a:ext cx="5120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079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Seleccionar, entrenar y evaluar de forma iterativa.</a:t>
            </a:r>
            <a:endParaRPr lang="en-US" sz="1350" dirty="0"/>
          </a:p>
        </p:txBody>
      </p:sp>
      <p:sp>
        <p:nvSpPr>
          <p:cNvPr id="22" name="Shape 19"/>
          <p:cNvSpPr/>
          <p:nvPr/>
        </p:nvSpPr>
        <p:spPr>
          <a:xfrm>
            <a:off x="1207008" y="4617720"/>
            <a:ext cx="0" cy="274320"/>
          </a:xfrm>
          <a:prstGeom prst="line">
            <a:avLst/>
          </a:prstGeom>
          <a:noFill/>
          <a:ln w="25400">
            <a:solidFill>
              <a:srgbClr val="D9DDFF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868680" y="4892040"/>
            <a:ext cx="685800" cy="685800"/>
          </a:xfrm>
          <a:prstGeom prst="ellipse">
            <a:avLst/>
          </a:prstGeom>
          <a:solidFill>
            <a:srgbClr val="000F9F"/>
          </a:solidFill>
          <a:ln/>
        </p:spPr>
      </p:sp>
      <p:sp>
        <p:nvSpPr>
          <p:cNvPr id="24" name="Text 21"/>
          <p:cNvSpPr/>
          <p:nvPr/>
        </p:nvSpPr>
        <p:spPr>
          <a:xfrm>
            <a:off x="868680" y="489204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4</a:t>
            </a:r>
            <a:endParaRPr lang="en-US" sz="2200" dirty="0"/>
          </a:p>
        </p:txBody>
      </p:sp>
      <p:sp>
        <p:nvSpPr>
          <p:cNvPr id="25" name="Text 22"/>
          <p:cNvSpPr/>
          <p:nvPr/>
        </p:nvSpPr>
        <p:spPr>
          <a:xfrm>
            <a:off x="1783080" y="4892040"/>
            <a:ext cx="4572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0F9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Configuración final</a:t>
            </a:r>
            <a:endParaRPr lang="en-US" sz="1700" dirty="0"/>
          </a:p>
        </p:txBody>
      </p:sp>
      <p:sp>
        <p:nvSpPr>
          <p:cNvPr id="26" name="Text 23"/>
          <p:cNvSpPr/>
          <p:nvPr/>
        </p:nvSpPr>
        <p:spPr>
          <a:xfrm>
            <a:off x="6400800" y="4892040"/>
            <a:ext cx="5120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079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Evaluar el mejor modelo con el conjunto de test.</a:t>
            </a:r>
            <a:endParaRPr lang="en-US" sz="1350" dirty="0"/>
          </a:p>
        </p:txBody>
      </p:sp>
      <p:sp>
        <p:nvSpPr>
          <p:cNvPr id="27" name="Text 24"/>
          <p:cNvSpPr/>
          <p:nvPr/>
        </p:nvSpPr>
        <p:spPr>
          <a:xfrm>
            <a:off x="1783080" y="576072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F647E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Herramientas como Keras Tuner automatizan este proceso.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146304" cy="566928"/>
          </a:xfrm>
          <a:prstGeom prst="rect">
            <a:avLst/>
          </a:prstGeom>
          <a:solidFill>
            <a:srgbClr val="FF647E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7E3D4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MÓDULO 2 · UNIDAD 2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22960" y="731520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00F9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Resumen de la sesión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48640" y="6199632"/>
            <a:ext cx="9966960" cy="0"/>
          </a:xfrm>
          <a:prstGeom prst="line">
            <a:avLst/>
          </a:prstGeom>
          <a:noFill/>
          <a:ln w="12700">
            <a:solidFill>
              <a:srgbClr val="D9DDFF"/>
            </a:solidFill>
            <a:prstDash val="solid"/>
          </a:ln>
        </p:spPr>
      </p:sp>
      <p:pic>
        <p:nvPicPr>
          <p:cNvPr id="6" name="Image 0" descr="logo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44200" y="6327648"/>
            <a:ext cx="1078992" cy="411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11480" y="6327648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079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14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68680" y="1828800"/>
            <a:ext cx="1042416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800"/>
              </a:spcAft>
              <a:buSzPct val="100000"/>
              <a:buChar char="❯"/>
            </a:pPr>
            <a:r>
              <a:rPr lang="en-US" sz="1600" dirty="0">
                <a:solidFill>
                  <a:srgbClr val="0B1031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Tres tipos de clasificación: binaria, multiclase y multietiqueta.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❯"/>
            </a:pPr>
            <a:r>
              <a:rPr lang="en-US" sz="1600" dirty="0">
                <a:solidFill>
                  <a:srgbClr val="0B1031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Salida + pérdida: sigmoide + binary crossentropy; softmax + categorical crossentropy.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❯"/>
            </a:pPr>
            <a:r>
              <a:rPr lang="en-US" sz="1600" dirty="0">
                <a:solidFill>
                  <a:srgbClr val="0B1031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La matriz de confusión (VP, VN, FP, FN) da las métricas: accuracy, precision, recall, F1.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❯"/>
            </a:pPr>
            <a:r>
              <a:rPr lang="en-US" sz="1600" b="1" dirty="0">
                <a:solidFill>
                  <a:srgbClr val="FF647E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Con clases desbalanceadas, accuracy engaña: usa precision / recall / F1.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❯"/>
            </a:pPr>
            <a:r>
              <a:rPr lang="en-US" sz="1600" dirty="0">
                <a:solidFill>
                  <a:srgbClr val="0B1031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Los hiperparámetros se optimizan con búsqueda (random, grid).</a:t>
            </a:r>
            <a:endParaRPr lang="en-US" sz="16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146304" cy="566928"/>
          </a:xfrm>
          <a:prstGeom prst="rect">
            <a:avLst/>
          </a:prstGeom>
          <a:solidFill>
            <a:srgbClr val="FF647E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7E3D4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MÓDULO 2 · UNIDAD 2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22960" y="731520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00F9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Práctica y próxima clase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48640" y="6199632"/>
            <a:ext cx="9966960" cy="0"/>
          </a:xfrm>
          <a:prstGeom prst="line">
            <a:avLst/>
          </a:prstGeom>
          <a:noFill/>
          <a:ln w="12700">
            <a:solidFill>
              <a:srgbClr val="D9DDFF"/>
            </a:solidFill>
            <a:prstDash val="solid"/>
          </a:ln>
        </p:spPr>
      </p:sp>
      <p:pic>
        <p:nvPicPr>
          <p:cNvPr id="6" name="Image 0" descr="logo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44200" y="6327648"/>
            <a:ext cx="1078992" cy="411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11480" y="6327648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079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15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868680" y="1828800"/>
            <a:ext cx="5212080" cy="3840480"/>
          </a:xfrm>
          <a:prstGeom prst="rect">
            <a:avLst/>
          </a:prstGeom>
          <a:solidFill>
            <a:srgbClr val="F4F6FF"/>
          </a:solidFill>
          <a:ln w="12700">
            <a:solidFill>
              <a:srgbClr val="D9DDFF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868680" y="1828800"/>
            <a:ext cx="5212080" cy="128016"/>
          </a:xfrm>
          <a:prstGeom prst="rect">
            <a:avLst/>
          </a:prstGeom>
          <a:solidFill>
            <a:srgbClr val="FF647E"/>
          </a:solidFill>
          <a:ln/>
        </p:spPr>
      </p:sp>
      <p:sp>
        <p:nvSpPr>
          <p:cNvPr id="10" name="Text 7"/>
          <p:cNvSpPr/>
          <p:nvPr/>
        </p:nvSpPr>
        <p:spPr>
          <a:xfrm>
            <a:off x="1097280" y="210312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0F9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Ahora: notebooks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1097280" y="2697480"/>
            <a:ext cx="475488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800"/>
              </a:spcAft>
              <a:buSzPct val="100000"/>
              <a:buChar char="❯"/>
            </a:pPr>
            <a:r>
              <a:rPr lang="en-US" sz="1400" dirty="0">
                <a:solidFill>
                  <a:srgbClr val="0B1031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01 · Clasificador binario y métricas (cáncer de mama).</a:t>
            </a:r>
            <a:endParaRPr lang="en-US" sz="1400" dirty="0"/>
          </a:p>
          <a:p>
            <a:pPr marL="228600" indent="-228600">
              <a:spcAft>
                <a:spcPts val="800"/>
              </a:spcAft>
              <a:buSzPct val="100000"/>
              <a:buChar char="❯"/>
            </a:pPr>
            <a:r>
              <a:rPr lang="en-US" sz="1400" dirty="0">
                <a:solidFill>
                  <a:srgbClr val="0B1031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02 · Clasificador multiclase con softmax (Iris).</a:t>
            </a:r>
            <a:endParaRPr lang="en-US" sz="1400" dirty="0"/>
          </a:p>
          <a:p>
            <a:pPr marL="228600" indent="-228600">
              <a:spcAft>
                <a:spcPts val="800"/>
              </a:spcAft>
              <a:buSzPct val="100000"/>
              <a:buChar char="❯"/>
            </a:pPr>
            <a:r>
              <a:rPr lang="en-US" sz="1400" b="1" dirty="0">
                <a:solidFill>
                  <a:srgbClr val="FF647E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Ábrelos en Colab y ejecuta cada celda.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6263640" y="1828800"/>
            <a:ext cx="5120640" cy="3840480"/>
          </a:xfrm>
          <a:prstGeom prst="rect">
            <a:avLst/>
          </a:prstGeom>
          <a:solidFill>
            <a:srgbClr val="000F9F"/>
          </a:solidFill>
          <a:ln/>
        </p:spPr>
      </p:sp>
      <p:sp>
        <p:nvSpPr>
          <p:cNvPr id="13" name="Shape 10"/>
          <p:cNvSpPr/>
          <p:nvPr/>
        </p:nvSpPr>
        <p:spPr>
          <a:xfrm>
            <a:off x="6263640" y="1828800"/>
            <a:ext cx="5120640" cy="128016"/>
          </a:xfrm>
          <a:prstGeom prst="rect">
            <a:avLst/>
          </a:prstGeom>
          <a:solidFill>
            <a:srgbClr val="67E3D4"/>
          </a:solidFill>
          <a:ln/>
        </p:spPr>
      </p:sp>
      <p:sp>
        <p:nvSpPr>
          <p:cNvPr id="14" name="Text 11"/>
          <p:cNvSpPr/>
          <p:nvPr/>
        </p:nvSpPr>
        <p:spPr>
          <a:xfrm>
            <a:off x="6492240" y="210312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7E3D4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Próxima clase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6492240" y="2697480"/>
            <a:ext cx="466344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800"/>
              </a:spcAft>
              <a:buSzPct val="100000"/>
              <a:buChar char="❯"/>
            </a:pPr>
            <a:r>
              <a:rPr lang="en-US" sz="1400" dirty="0">
                <a:solidFill>
                  <a:srgbClr val="FFFFF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Módulo 2 · Unidad 3: Regresión con redes de neuronas.</a:t>
            </a:r>
            <a:endParaRPr lang="en-US" sz="1400" dirty="0"/>
          </a:p>
          <a:p>
            <a:pPr marL="228600" indent="-228600">
              <a:spcAft>
                <a:spcPts val="800"/>
              </a:spcAft>
              <a:buSzPct val="100000"/>
              <a:buChar char="❯"/>
            </a:pPr>
            <a:r>
              <a:rPr lang="en-US" sz="1400" dirty="0">
                <a:solidFill>
                  <a:srgbClr val="FFFFF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Predecir valores continuos.</a:t>
            </a:r>
            <a:endParaRPr lang="en-US" sz="1400" dirty="0"/>
          </a:p>
          <a:p>
            <a:pPr marL="228600" indent="-228600">
              <a:spcAft>
                <a:spcPts val="800"/>
              </a:spcAft>
              <a:buSzPct val="100000"/>
              <a:buChar char="❯"/>
            </a:pPr>
            <a:r>
              <a:rPr lang="en-US" sz="1400" dirty="0">
                <a:solidFill>
                  <a:srgbClr val="FFFFF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Función de pérdida MSE y métricas de regresión.</a:t>
            </a:r>
            <a:endParaRPr lang="en-US" sz="14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647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01200" y="-1280160"/>
            <a:ext cx="3840480" cy="3840480"/>
          </a:xfrm>
          <a:prstGeom prst="ellipse">
            <a:avLst/>
          </a:prstGeom>
          <a:solidFill>
            <a:srgbClr val="FF9BAC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21945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00F9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❯❯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731520" y="274320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000F9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¡Gracias!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777240" y="41148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Nos vemos en la próxima videoclase.</a:t>
            </a:r>
            <a:endParaRPr lang="en-US" sz="2000" dirty="0"/>
          </a:p>
        </p:txBody>
      </p:sp>
      <p:pic>
        <p:nvPicPr>
          <p:cNvPr id="6" name="Image 0" descr="logo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15600" y="6263640"/>
            <a:ext cx="1325880" cy="5029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Clase 4 - M2U2 Clasificación</dc:title>
  <dc:subject>PptxGenJS Presentation</dc:subject>
  <dc:creator>Ignacio López</dc:creator>
  <cp:lastModifiedBy>Ignacio López</cp:lastModifiedBy>
  <cp:revision>1</cp:revision>
  <dcterms:created xsi:type="dcterms:W3CDTF">2026-06-08T14:05:06Z</dcterms:created>
  <dcterms:modified xsi:type="dcterms:W3CDTF">2026-06-08T14:05:06Z</dcterms:modified>
</cp:coreProperties>
</file>