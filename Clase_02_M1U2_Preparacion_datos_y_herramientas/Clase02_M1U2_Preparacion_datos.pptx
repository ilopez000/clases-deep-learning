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Preparación de datos y herramientas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594360" y="370332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840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2 · Módulo 1 — Unidad 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 al Deep Learning · Apartados 2.1 a 2.5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¿Dónde estamos? Repaso y objetivos de hoy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la Clase 1 vimos qué es el Machine Learning y el proceso de entrenamiento e inferencia.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nos centramos en el paso previo y decisivo: preparar bien los datos.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“Garbage in, garbage out”: sin datos de calidad no hay buen modelo.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411480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Unidad 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183880" y="256032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Tres tipos de información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 entrada · de salida · de aprendizaje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Herramienta nueva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TensorFlow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Pandas + Scikit-Learn sobre datos reales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1 · UNIDAD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Índice de la sesión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874520" y="1783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949440" y="1783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conjuntos de información de un modelo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262432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874520" y="262432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Información de entrada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949440" y="26243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Calidad, cantidad y preparación de los datos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3465576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874520" y="346557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Información de salida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949440" y="346557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Función de pérdida y ajuste del modelo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8680" y="430682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2.4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874520" y="430682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Información de aprendizaje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949440" y="430682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Coeficientes y algoritmos de optimización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68680" y="514807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2.5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874520" y="514807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TensorFlow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6949440" y="514807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librería para construir redes de neuronas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120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conjuntos de información para construir un modelo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Tres tipos de información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Para construir un modelo de comportamiento necesitamos distinguir tres conjuntos de información y operación: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286000"/>
            <a:ext cx="338328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28600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248716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Información de entrada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2926080"/>
            <a:ext cx="2980944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datos que alimentan el algoritmo de aprendizaje. Casi siempre hay que preprocesarlos, limpiarlos y transformarlos antes de entrenar.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34840" y="2286000"/>
            <a:ext cx="338328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228600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4636008" y="248716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Información de salida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36008" y="2926080"/>
            <a:ext cx="2980944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etiquetado (clase) de los datos de entrada. Es opcional: no se necesita en aprendizaje no supervisado.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01000" y="2286000"/>
            <a:ext cx="338328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01000" y="228600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9" name="Text 16"/>
          <p:cNvSpPr/>
          <p:nvPr/>
        </p:nvSpPr>
        <p:spPr>
          <a:xfrm>
            <a:off x="8202168" y="248716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Información de aprendizaje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02168" y="2926080"/>
            <a:ext cx="2980944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elementos que configuran el entrenamiento: algoritmo de aprendizaje, algoritmo de optimización y función de pérdida (loss).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Información de entrada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120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Calidad, cantidad y preparación de los datos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INFORMACIÓN DE ENTRADA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Conceptos básicos sobre datos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Atributo: unidad básica de información que describe un rasgo de la instancia (color, tamaño…).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Continuos: valor dentro de un intervalo (p. ej. temperatura: -50° a 50°).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Discretos: valor de un conjunto finito (p. ej. colores de un coche).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Etiqueta / clase: atributo especial con el valor a predecir.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Instancia: secuencia finita de atributos; todas las instancias comparten la misma estructura.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INFORMACIÓN DE ENTRADA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Ejemplo: dataset de cáncer de mama (Wisconsin)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instancia es un análisis clínico; la clase indica si el tumor es benigno (2) o maligno (4).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148840"/>
          <a:ext cx="10424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1920240"/>
                <a:gridCol w="1920240"/>
                <a:gridCol w="137160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Sample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F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Bare Nuclei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F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Bland Chromatin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F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Normal Nucleoli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F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Mitoses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F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Class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F9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1000025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1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2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1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1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2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1002945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10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3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2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1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2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1017122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10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9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7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1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4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868680" y="45720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Clasificación binaria: el modelo aprende a distinguir clase positiva (4) de negativa (2) buscando patrones en los atributos.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INFORMACIÓN DE ENTRADA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Calidad de la información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783080"/>
            <a:ext cx="3383280" cy="39319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78308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19842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Valores atípicos (outliers)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23160"/>
            <a:ext cx="2980944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Valores muy alejados del resto. Pueden ser errores de medición o casos raros.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Detección: métodos monovariable, multivariable o error de Minkowski (minimiza su impacto sin eliminarlos).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34840" y="1783080"/>
            <a:ext cx="3383280" cy="39319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78308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36008" y="19842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Uniformidad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2423160"/>
            <a:ext cx="2980944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 coherentes entre fuentes: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• Mismas unidades de medida.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• Tratar la falta de valores (5-15% omiten su edad).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• Misma precisión (decimales).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001000" y="1783080"/>
            <a:ext cx="3383280" cy="39319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178308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8202168" y="19842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Ruido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02168" y="2423160"/>
            <a:ext cx="2980944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Valores que no aportan información (medición incorrecta o error de inserción).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Aumenta la complejidad y dificulta que el modelo generalice. Conviene analizarlo y eliminarlo antes de entrenar.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INFORMACIÓN DE ENTRADA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Cantidad de información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783080"/>
            <a:ext cx="52120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783080"/>
            <a:ext cx="52120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1984248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Falta global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23160"/>
            <a:ext cx="4809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Muy pocos datos o todos muy parecidos: el modelo no es capaz de aprender.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12064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783080"/>
            <a:ext cx="512064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6464808" y="1984248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Falta parcial (desbalanceo)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64808" y="2423160"/>
            <a:ext cx="4718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Clases mal repartidas. El modelo se centra en las mayoritarias y se sobreajusta a ellas.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3840480"/>
            <a:ext cx="1051560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840480"/>
            <a:ext cx="128016" cy="1874520"/>
          </a:xfrm>
          <a:prstGeom prst="rect">
            <a:avLst/>
          </a:prstGeom>
          <a:solidFill>
            <a:srgbClr val="00A38C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977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Aumentación de datos (Data Augmentation)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97280" y="44348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Generar datos artificiales válidos aplicando transformaciones simples (p. ej. pequeñas rotaciones o recortes de una imagen) para aumentar el número de ejemplos, sin introducir errores.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INFORMACIÓN DE ENTRADA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tres conjuntos de datos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920240"/>
            <a:ext cx="7315200" cy="82296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Entrenamiento · 80-90%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75320" y="1920240"/>
            <a:ext cx="1371600" cy="822960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1" name="Text 8"/>
          <p:cNvSpPr/>
          <p:nvPr/>
        </p:nvSpPr>
        <p:spPr>
          <a:xfrm>
            <a:off x="827532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Valid.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738360" y="1920240"/>
            <a:ext cx="1691640" cy="82296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3" name="Text 10"/>
          <p:cNvSpPr/>
          <p:nvPr/>
        </p:nvSpPr>
        <p:spPr>
          <a:xfrm>
            <a:off x="9738360" y="1920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Test · 10-20%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680" y="30632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Entrenamiento: el conjunto mayor; se usa para aprender (ajustar los pesos del modelo).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Validación: pequeña parte para evaluar el modelo durante el aprendizaje; no se usa para entrenar.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Test: evaluación imparcial del modelo final con datos nunca vistos.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Usar el test como validación está totalmente desaconsejado.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INFORMACIÓN DE ENTRADA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Analizar los datos con Pandas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Pandas ofrece dos estructuras: Series (una columna) y DataFrame (tabla de series).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194560"/>
            <a:ext cx="5257800" cy="1600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194560"/>
            <a:ext cx="525780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239572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head(n)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2834640"/>
            <a:ext cx="48554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Muestra las primeras n filas (5 por defecto).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0" y="2194560"/>
            <a:ext cx="5257800" cy="1600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0" y="2194560"/>
            <a:ext cx="525780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6601968" y="239572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info()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01968" y="2834640"/>
            <a:ext cx="48554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Tipos, posición y número de valores nulos de cada atributo.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3977640"/>
            <a:ext cx="5257800" cy="1600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3977640"/>
            <a:ext cx="525780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9" name="Text 16"/>
          <p:cNvSpPr/>
          <p:nvPr/>
        </p:nvSpPr>
        <p:spPr>
          <a:xfrm>
            <a:off x="1069848" y="417880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value_counts()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69848" y="4617720"/>
            <a:ext cx="48554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Nº de instancias por valor; útil para atributos discretos y clases.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0" y="3977640"/>
            <a:ext cx="5257800" cy="1600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0" y="3977640"/>
            <a:ext cx="5257800" cy="109728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23" name="Text 20"/>
          <p:cNvSpPr/>
          <p:nvPr/>
        </p:nvSpPr>
        <p:spPr>
          <a:xfrm>
            <a:off x="6601968" y="417880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describe()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601968" y="4617720"/>
            <a:ext cx="48554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Estadísticos de los atributos numéricos: count, media, std, min, max.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INFORMACIÓN DE ENTRADA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Análisis de correlaciones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Coeficiente de correlación de Pearson: mide la dependencia lineal entre dos variables cuantitativas continuas.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Independiente de la escala de las variables.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Valor entre -1 y 1: cerca de 1 ⇒ alta correlación; cerca de -1 ⇒ correlación inversa; cerca de 0 ⇒ sin relación.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df.corr() genera la matriz; scatter_matrix la visualiza.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Útil para detectar atributos redundantes o irrelevantes (p. ej. un identificador no debería correlacionar).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INFORMACIÓN DE ENTRADA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Normalización de valores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Cambiar la escala de las variables evita que las diferencias de magnitud confundan al algoritmo. Convierte los valores en adimensionales y comparables.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2377440"/>
            <a:ext cx="3383280" cy="29260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37744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257860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Estándar (min-max)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3017520"/>
            <a:ext cx="298094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Lleva los valores a una escala 0–1 sin considerar el mínimo.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Habitual para píxeles de imágenes (0–255).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34840" y="2377440"/>
            <a:ext cx="3383280" cy="29260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237744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4636008" y="257860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Probabilista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36008" y="3017520"/>
            <a:ext cx="298094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Lleva los valores a una escala 0–1 teniendo en cuenta mínimo y máximo.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01000" y="2377440"/>
            <a:ext cx="3383280" cy="29260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01000" y="237744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9" name="Text 16"/>
          <p:cNvSpPr/>
          <p:nvPr/>
        </p:nvSpPr>
        <p:spPr>
          <a:xfrm>
            <a:off x="8202168" y="257860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Z-score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02168" y="3017520"/>
            <a:ext cx="298094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Reescala según la distribución normal (media 0, desviación 1).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más usada al construir redes de neuronas profundas.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INFORMACIÓN DE ENTRADA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Codificar atributos categóricos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mayoría de algoritmos trabajan solo con números. Tres formas de transformar texto/categorías (con Scikit-Learn):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2286000"/>
            <a:ext cx="3383280" cy="3017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28600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248716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Etiquetas (LabelEncoder)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2926080"/>
            <a:ext cx="298094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Asigna un entero a cada valor (aéreo=0, marítimo=1, terrestre=2).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Riesgo: introduce un orden artificial entre categorías.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34840" y="2286000"/>
            <a:ext cx="3383280" cy="3017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228600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4636008" y="248716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One-Hot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36008" y="2926080"/>
            <a:ext cx="298094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Vector binario; solo una posición vale 1.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Elimina el orden, pero aumenta el tamaño de los datos.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01000" y="2286000"/>
            <a:ext cx="3383280" cy="3017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01000" y="228600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9" name="Text 16"/>
          <p:cNvSpPr/>
          <p:nvPr/>
        </p:nvSpPr>
        <p:spPr>
          <a:xfrm>
            <a:off x="8202168" y="248716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Binaria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02168" y="2926080"/>
            <a:ext cx="298094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Codifica las categorías en binario.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Más compacta que one-hot cuando hay muchas categorías.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68680" y="5440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transformaciones encadenadas se organizan en pipelines (secuencias reutilizables).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INFORMACIÓN DE ENTRADA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Generar los conjuntos: el muestreo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train_test_split divide los datos en entrenamiento y test. El algoritmo de muestreo importa: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286000"/>
            <a:ext cx="5212080" cy="29260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286000"/>
            <a:ext cx="52120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2487168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Muestreo aleatorio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2926080"/>
            <a:ext cx="480974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Reparte las instancias al azar entre los conjuntos.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 bien con conjuntos grandes, pero en conjuntos pequeños puede introducir sesgo de muestreo.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2286000"/>
            <a:ext cx="5120640" cy="29260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3640" y="2286000"/>
            <a:ext cx="512064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6464808" y="2487168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Muestreo estratificado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64808" y="2926080"/>
            <a:ext cx="471830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Divide primero en estratos disjuntos (p. ej. por clase) y luego muestrea dentro de cada uno.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Mantiene la proporción de clases: ideal con datos pequeños o desbalanceados.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Información de salida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120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Función de pérdida y ajuste del modelo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2.3 INFORMACIÓN DE SALIDA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función de pérdida (loss)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Mide matemáticamente cuánto se aleja el modelo del “modelo perfecto”.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Compara el valor esperado (etiqueta real) con el valor predicho: menor diferencia ⇒ mejor modelo.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elección depende del tipo de algoritmo y del tipo de salida.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3566160"/>
          <a:ext cx="104241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Algoritmo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F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Tipo de salida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F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Función de pérdida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F9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Clasificación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Binaria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Binary cross entropy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Clasificación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Multiclase (una etiqueta)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Cross entropy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Clasificación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Multiclase (varias etiquetas)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Binary cross entropy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Regresión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Numérico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Mean Squared Error (MSE)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2.3 INFORMACIÓN DE SALIDA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Ajuste del modelo: el equilibrio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18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78308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78308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19842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Underfitting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23160"/>
            <a:ext cx="298094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modelo no captura ni los patrones del entrenamiento.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Baja precisión en TODOS los conjuntos.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Demasiado simple.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34840" y="178308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783080"/>
            <a:ext cx="3383280" cy="109728"/>
          </a:xfrm>
          <a:prstGeom prst="rect">
            <a:avLst/>
          </a:prstGeom>
          <a:solidFill>
            <a:srgbClr val="00A38C"/>
          </a:solidFill>
          <a:ln/>
        </p:spPr>
      </p:sp>
      <p:sp>
        <p:nvSpPr>
          <p:cNvPr id="14" name="Text 11"/>
          <p:cNvSpPr/>
          <p:nvPr/>
        </p:nvSpPr>
        <p:spPr>
          <a:xfrm>
            <a:off x="4636008" y="19842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Buen ajuste (fit)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2423160"/>
            <a:ext cx="298094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modelo generaliza: predice bien también datos nuevos.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 el objetivo.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001000" y="178308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178308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8" name="Text 15"/>
          <p:cNvSpPr/>
          <p:nvPr/>
        </p:nvSpPr>
        <p:spPr>
          <a:xfrm>
            <a:off x="8202168" y="19842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Overfitting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02168" y="2423160"/>
            <a:ext cx="298094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Memoriza el entrenamiento pero no generaliza.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Muy preciso en train, malo en test.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Demasiado complejo.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68680" y="5212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Señal de overfitting: la precisión en entrenamiento es mucho mayor que en test.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2.3 INFORMACIÓN DE SALIDA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Resolver los problemas de ajuste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783080"/>
            <a:ext cx="5257800" cy="14630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783080"/>
            <a:ext cx="525780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198424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Más datos de entrenamiento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23160"/>
            <a:ext cx="485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Suele ser lo primero; depende de la calidad, no solo la cantidad.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0" y="1783080"/>
            <a:ext cx="5257800" cy="14630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1783080"/>
            <a:ext cx="525780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6601968" y="198424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Eliminar atributos irrelevantes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601968" y="2423160"/>
            <a:ext cx="485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Analizar correlaciones y quitar lo que no aporta.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3383280"/>
            <a:ext cx="5257800" cy="14630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383280"/>
            <a:ext cx="525780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1069848" y="358444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Regularización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69848" y="4023360"/>
            <a:ext cx="485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Simplifica el modelo; en redes, capas de dropout.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0" y="3383280"/>
            <a:ext cx="5257800" cy="14630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0" y="3383280"/>
            <a:ext cx="5257800" cy="109728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22" name="Text 19"/>
          <p:cNvSpPr/>
          <p:nvPr/>
        </p:nvSpPr>
        <p:spPr>
          <a:xfrm>
            <a:off x="6601968" y="358444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Parada temprana (early stopping)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601968" y="4023360"/>
            <a:ext cx="485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Detener el entrenamiento cuando el modelo empieza a degradarse.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68680" y="5029200"/>
            <a:ext cx="10515600" cy="914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8680" y="5029200"/>
            <a:ext cx="10515600" cy="109728"/>
          </a:xfrm>
          <a:prstGeom prst="rect">
            <a:avLst/>
          </a:prstGeom>
          <a:solidFill>
            <a:srgbClr val="00A38C"/>
          </a:solidFill>
          <a:ln/>
        </p:spPr>
      </p:sp>
      <p:sp>
        <p:nvSpPr>
          <p:cNvPr id="26" name="Text 23"/>
          <p:cNvSpPr/>
          <p:nvPr/>
        </p:nvSpPr>
        <p:spPr>
          <a:xfrm>
            <a:off x="1069848" y="5230368"/>
            <a:ext cx="10113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Ensamblado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069848" y="5669280"/>
            <a:ext cx="10113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Combinar varios modelos: boosting y bagging.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Información de aprendizaje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120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Coeficientes y algoritmos de optimización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2.4 INFORMACIÓN DE APRENDIZAJE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Cuatro elementos del aprendizaje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783080"/>
            <a:ext cx="525780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783080"/>
            <a:ext cx="525780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198424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Coeficientes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23160"/>
            <a:ext cx="485546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Valores que definen el modelo (en una red, los pesos). Se inicializan al azar y se ajustan en cada iteración para minimizar la pérdida.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0" y="1783080"/>
            <a:ext cx="525780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1783080"/>
            <a:ext cx="525780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6601968" y="198424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Número de iteraciones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601968" y="2423160"/>
            <a:ext cx="485546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Cuántas veces se aplica la optimización. Entero mayor que 1. Primer hiperparámetro clave.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3840480"/>
            <a:ext cx="525780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840480"/>
            <a:ext cx="525780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1069848" y="404164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Tasa de aprendizaje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69848" y="4480560"/>
            <a:ext cx="485546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Grado de influencia de cada actualización (entre 0 y 1). Segundo hiperparámetro clave.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0" y="3840480"/>
            <a:ext cx="525780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0" y="3840480"/>
            <a:ext cx="5257800" cy="109728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22" name="Text 19"/>
          <p:cNvSpPr/>
          <p:nvPr/>
        </p:nvSpPr>
        <p:spPr>
          <a:xfrm>
            <a:off x="6601968" y="404164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Algoritmo de optimización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601968" y="4480560"/>
            <a:ext cx="485546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Método que ajusta los coeficientes según la pérdida y la tasa de aprendizaje.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2.4 INFORMACIÓN DE APRENDIZAJE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descenso del gradiente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Algoritmo de optimización más conocido: busca el mínimo de la función de pérdida de forma iterativa.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Usa la derivada para saber hacia dónde está el mínimo más cercano.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Nuevo valor = valor actual − (tasa de aprendizaje × gradiente).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tasa de aprendizaje es crítica: muy baja ⇒ lentísimo; muy alta ⇒ no converge.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863840" y="5120640"/>
            <a:ext cx="73152" cy="73152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81010" y="4499134"/>
            <a:ext cx="73152" cy="73152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98180" y="3960495"/>
            <a:ext cx="73152" cy="73152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15350" y="3504724"/>
            <a:ext cx="73152" cy="73152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32520" y="3131820"/>
            <a:ext cx="73152" cy="73152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49690" y="2841784"/>
            <a:ext cx="73152" cy="73152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66860" y="2634615"/>
            <a:ext cx="73152" cy="73152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384030" y="2510314"/>
            <a:ext cx="73152" cy="73152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01200" y="2468880"/>
            <a:ext cx="73152" cy="73152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818370" y="2510314"/>
            <a:ext cx="73152" cy="73152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35540" y="2634615"/>
            <a:ext cx="73152" cy="73152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252710" y="2841784"/>
            <a:ext cx="73152" cy="73152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469880" y="3131820"/>
            <a:ext cx="73152" cy="73152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687050" y="3504724"/>
            <a:ext cx="73152" cy="73152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904220" y="3960495"/>
            <a:ext cx="73152" cy="73152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121390" y="4499134"/>
            <a:ext cx="73152" cy="73152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338560" y="5120640"/>
            <a:ext cx="73152" cy="73152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881360" y="3703320"/>
            <a:ext cx="310896" cy="310896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454896" y="5010912"/>
            <a:ext cx="310896" cy="310896"/>
          </a:xfrm>
          <a:prstGeom prst="ellipse">
            <a:avLst/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961120" y="5166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mínimo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680960" y="3017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pérdida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2.4 INFORMACIÓN DE APRENDIZAJE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Variantes del gradiente descendente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783080"/>
            <a:ext cx="3383280" cy="21031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78308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19842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lotes (batch)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23160"/>
            <a:ext cx="2980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Usa todo el conjunto en cada iteración. Estable, pero lento y tiende a estancarse.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34840" y="1783080"/>
            <a:ext cx="3383280" cy="21031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78308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36008" y="19842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Estocástico (SGD)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2423160"/>
            <a:ext cx="2980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sola muestra (aleatoria) por iteración. Rápido por paso, pero converge con dificultad.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001000" y="1783080"/>
            <a:ext cx="3383280" cy="21031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178308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8202168" y="19842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Mini-lotes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02168" y="2423160"/>
            <a:ext cx="2980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 grupo aleatorio de muestras. Equilibra estabilidad y velocidad.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68680" y="4069080"/>
            <a:ext cx="5212080" cy="17373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4069080"/>
            <a:ext cx="5212080" cy="109728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22" name="Text 19"/>
          <p:cNvSpPr/>
          <p:nvPr/>
        </p:nvSpPr>
        <p:spPr>
          <a:xfrm>
            <a:off x="1069848" y="4270248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Momentum (inercia)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69848" y="4709160"/>
            <a:ext cx="4809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Añade una “fuerza inercial” que usa la actualización anterior para evitar estancamientos y acelerar la convergencia.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263640" y="4069080"/>
            <a:ext cx="5120640" cy="17373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63640" y="4069080"/>
            <a:ext cx="5120640" cy="109728"/>
          </a:xfrm>
          <a:prstGeom prst="rect">
            <a:avLst/>
          </a:prstGeom>
          <a:solidFill>
            <a:srgbClr val="00A38C"/>
          </a:solidFill>
          <a:ln/>
        </p:spPr>
      </p:sp>
      <p:sp>
        <p:nvSpPr>
          <p:cNvPr id="26" name="Text 23"/>
          <p:cNvSpPr/>
          <p:nvPr/>
        </p:nvSpPr>
        <p:spPr>
          <a:xfrm>
            <a:off x="6464808" y="4270248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Adam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464808" y="4709160"/>
            <a:ext cx="47183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Adaptive Moment Estimation: usa dos momentums, uno para el gradiente y otro para adaptar la tasa de aprendizaje. Muy usado en Deep Learning.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TensorFlow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120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librería para construir redes de neuronas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2.5 TENSORFLOW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¿Qué es TensorFlow?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Librería de software libre para algoritmos de ML que ejecuta operaciones matemáticas sobre grandes volúmenes de datos, con paralelización.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Basada en DistBelief (Google Brain, 2009); orientada a redes de neuronas profundas.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3017520"/>
            <a:ext cx="3383280" cy="23774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01752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321868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TensorFlow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3657600"/>
            <a:ext cx="29809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framework completo para construir y entrenar modelos de redes de neuronas profundas.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34840" y="3017520"/>
            <a:ext cx="3383280" cy="23774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301752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4636008" y="321868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TensorFlow Lite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36008" y="3657600"/>
            <a:ext cx="29809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Ejecuta modelos en dispositivos móviles, embebidos o IoT, con baja latencia y tamaño reducido.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01000" y="3017520"/>
            <a:ext cx="3383280" cy="23774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01000" y="301752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9" name="Text 16"/>
          <p:cNvSpPr/>
          <p:nvPr/>
        </p:nvSpPr>
        <p:spPr>
          <a:xfrm>
            <a:off x="8202168" y="321868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TensorFlow.js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02168" y="3657600"/>
            <a:ext cx="29809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 y ejecuta modelos en el navegador y en Node.js con JavaScript.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2.5 TENSORFLOW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Dispositivos: CPU, GPU y TPU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algoritmos de ML pueden requerir muchos recursos; TF aprovecha distintos dispositivos.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Conviene comprobar qué dispositivos hay disponibles antes de entrenar.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 tf.device se elige dónde ejecutar cada operación.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GPU el tiempo de ejecución suele ser muy inferior al de CPU.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80960" y="21031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26680" y="2103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CPU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052560" y="21031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98280" y="2103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GPU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424160" y="21031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69880" y="2103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TPU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8096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tf.config.list_physical_devices('GPU')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2.5 TENSORFLOW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Tensores y operaciones básicas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Toda la información en TF se almacena en tensores.</a:t>
            </a:r>
            <a:endParaRPr lang="en-US" sz="15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Constantes: inmutables. Variables: mutables durante la ejecución.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Creación rápida: zeros, ones y random (con semilla configurable).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Operaciones: concat (combinar), reshape (cambiar tamaño) y casting (cambiar tipo).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Gradientes: GradientTape registra operaciones para derivarlas (p. ej. la tangente hiperbólica).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tf.function compila operaciones en grafos para ejecutarlas de forma eficiente y paralela.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2.5 TENSORFLOW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Operaciones matriciales en TF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28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3337560" cy="17830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333756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029968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add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68880"/>
            <a:ext cx="293522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Suma elemento a elemento (mismo tamaño).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07408" y="1828800"/>
            <a:ext cx="3337560" cy="17830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07408" y="1828800"/>
            <a:ext cx="333756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08576" y="2029968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transpose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08576" y="2468880"/>
            <a:ext cx="293522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Traspuesta: filas pasan a columnas.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46136" y="1828800"/>
            <a:ext cx="3337560" cy="17830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46136" y="1828800"/>
            <a:ext cx="333756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8147304" y="2029968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matmul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147304" y="2468880"/>
            <a:ext cx="293522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Multiplicación de matrices.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68680" y="3840480"/>
            <a:ext cx="3337560" cy="17830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3840480"/>
            <a:ext cx="3337560" cy="109728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22" name="Text 19"/>
          <p:cNvSpPr/>
          <p:nvPr/>
        </p:nvSpPr>
        <p:spPr>
          <a:xfrm>
            <a:off x="1069848" y="4041648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det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69848" y="4480560"/>
            <a:ext cx="293522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Determinante de una matriz.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407408" y="3840480"/>
            <a:ext cx="3337560" cy="17830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07408" y="3840480"/>
            <a:ext cx="3337560" cy="109728"/>
          </a:xfrm>
          <a:prstGeom prst="rect">
            <a:avLst/>
          </a:prstGeom>
          <a:solidFill>
            <a:srgbClr val="00A38C"/>
          </a:solidFill>
          <a:ln/>
        </p:spPr>
      </p:sp>
      <p:sp>
        <p:nvSpPr>
          <p:cNvPr id="26" name="Text 23"/>
          <p:cNvSpPr/>
          <p:nvPr/>
        </p:nvSpPr>
        <p:spPr>
          <a:xfrm>
            <a:off x="4608576" y="4041648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tensordot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608576" y="4480560"/>
            <a:ext cx="293522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Producto escalar de matrices.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946136" y="3840480"/>
            <a:ext cx="3337560" cy="17830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46136" y="3840480"/>
            <a:ext cx="333756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0" name="Text 27"/>
          <p:cNvSpPr/>
          <p:nvPr/>
        </p:nvSpPr>
        <p:spPr>
          <a:xfrm>
            <a:off x="8147304" y="4041648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eye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8147304" y="4480560"/>
            <a:ext cx="293522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Matriz identidad (1 en la diagonal).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1 · UNIDAD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Resumen de la sesión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 modelo necesita tres tipos de información: de entrada, de salida y de aprendizaje.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calidad (outliers, uniformidad, ruido) y la cantidad (balanceo) de los datos son decisivas.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Preparación con Pandas/Scikit-Learn: análisis, correlaciones, normalización, codificación y muestreo.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función de pérdida guía el ajuste; vigilamos underfitting y overfitting.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descenso del gradiente (y Adam) optimiza los coeficientes. TensorFlow será nuestra herramienta.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1 · UNIDAD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 y próxima clase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Preparación de datos con Pandas y Scikit-Learn (dataset Wisconsin).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Introducción a TensorFlow: tensores y operaciones.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Próxima clase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2 · Redes de neuronas: la neurona y el perceptrón.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Construcción de la primera red con TensorFlow/Keras.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Funciones de activación y entrenamiento.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2 - M1U2 Preparación de datos y herramientas</dc:title>
  <dc:subject>PptxGenJS Presentation</dc:subject>
  <dc:creator>Ignacio López</dc:creator>
  <cp:lastModifiedBy>Ignacio López</cp:lastModifiedBy>
  <cp:revision>1</cp:revision>
  <dcterms:created xsi:type="dcterms:W3CDTF">2026-06-03T11:36:39Z</dcterms:created>
  <dcterms:modified xsi:type="dcterms:W3CDTF">2026-06-03T11:36:39Z</dcterms:modified>
</cp:coreProperties>
</file>