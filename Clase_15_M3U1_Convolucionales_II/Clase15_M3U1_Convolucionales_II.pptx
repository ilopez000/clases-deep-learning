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97680"/>
            <a:ext cx="3291840" cy="329184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47E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73736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10789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convolucionales II</a:t>
            </a:r>
            <a:endParaRPr lang="en-US" sz="4400" dirty="0"/>
          </a:p>
        </p:txBody>
      </p:sp>
      <p:sp>
        <p:nvSpPr>
          <p:cNvPr id="7" name="Shape 4"/>
          <p:cNvSpPr/>
          <p:nvPr/>
        </p:nvSpPr>
        <p:spPr>
          <a:xfrm>
            <a:off x="594360" y="3703320"/>
            <a:ext cx="3108960" cy="6400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840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15 · Módulo 3 — Unidad 1 (Parte II)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 las piezas a un clasificador de imágenes completo</a:t>
            </a:r>
            <a:endParaRPr lang="en-US" sz="1600" dirty="0"/>
          </a:p>
        </p:txBody>
      </p:sp>
      <p:pic>
        <p:nvPicPr>
          <p:cNvPr id="10" name="Image 1" descr="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15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Repaso y objetivos de hoy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Convolucionales I vimos las piezas: la imagen como matriz, la convolución (filtros, stride, padding) y el pooling.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las ensamblamos en una CNN completa y entrenamos un clasificador de imágenes.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955280" y="1691640"/>
            <a:ext cx="3474720" cy="365760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veremos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8183880" y="2468880"/>
            <a:ext cx="310896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Flatten y batch norm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Anatomía de una CNN</a:t>
            </a:r>
            <a:endParaRPr lang="en-US" sz="1400" dirty="0"/>
          </a:p>
          <a:p>
            <a:pPr indent="0" marL="0">
              <a:spcAft>
                <a:spcPts val="9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Aumentación de datos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Construir y entrenar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 las piezas a la red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Aplanamiento, normalización y anatomía de una CNN</a:t>
            </a:r>
            <a:endParaRPr lang="en-US" sz="1800" dirty="0"/>
          </a:p>
        </p:txBody>
      </p:sp>
      <p:pic>
        <p:nvPicPr>
          <p:cNvPr id="6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· CAPAS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Flatten: de matriz a vector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Las convoluciones y el pooling trabajan con matrices (imágenes).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Pero el clasificador final (capas densas) necesita un vector.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Flatten convierte el cubo de mapas de características en un único vector.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589520" y="2377440"/>
            <a:ext cx="1371600" cy="137160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7589520" y="2377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mapas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(matriz)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961120" y="3063240"/>
            <a:ext cx="640080" cy="0"/>
          </a:xfrm>
          <a:prstGeom prst="line">
            <a:avLst/>
          </a:prstGeom>
          <a:noFill/>
          <a:ln w="3175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9692640" y="2468880"/>
            <a:ext cx="1463040" cy="201168"/>
          </a:xfrm>
          <a:prstGeom prst="rect">
            <a:avLst/>
          </a:prstGeom>
          <a:solidFill>
            <a:srgbClr val="6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692640" y="2697480"/>
            <a:ext cx="1463040" cy="201168"/>
          </a:xfrm>
          <a:prstGeom prst="rect">
            <a:avLst/>
          </a:prstGeom>
          <a:solidFill>
            <a:srgbClr val="6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692640" y="2926080"/>
            <a:ext cx="1463040" cy="201168"/>
          </a:xfrm>
          <a:prstGeom prst="rect">
            <a:avLst/>
          </a:prstGeom>
          <a:solidFill>
            <a:srgbClr val="6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692640" y="3154680"/>
            <a:ext cx="1463040" cy="201168"/>
          </a:xfrm>
          <a:prstGeom prst="rect">
            <a:avLst/>
          </a:prstGeom>
          <a:solidFill>
            <a:srgbClr val="6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9692640" y="3383280"/>
            <a:ext cx="1463040" cy="201168"/>
          </a:xfrm>
          <a:prstGeom prst="rect">
            <a:avLst/>
          </a:prstGeom>
          <a:solidFill>
            <a:srgbClr val="6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9692640" y="3611880"/>
            <a:ext cx="1463040" cy="201168"/>
          </a:xfrm>
          <a:prstGeom prst="rect">
            <a:avLst/>
          </a:prstGeom>
          <a:solidFill>
            <a:srgbClr val="67E3D4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692640" y="39319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vector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· CAPAS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Batch Normalization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Normaliza las salidas de una capa (las reescala y recentra).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Ventaja: el entrenamiento es más rápido y estable.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suele colocar entre la convolución y la función de activación.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TensorFlow: la clase BatchNormalization.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1.3 CNN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Anatomía de una CNN completa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Dos secciones: primero se extraen características de la imagen y luego se clasifica.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2194560"/>
            <a:ext cx="5760720" cy="3291840"/>
          </a:xfrm>
          <a:prstGeom prst="rect">
            <a:avLst/>
          </a:prstGeom>
          <a:solidFill>
            <a:srgbClr val="F4F6FF"/>
          </a:solidFill>
          <a:ln w="19050">
            <a:solidFill>
              <a:srgbClr val="FF647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05840" y="2286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 · Extracción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1097280" y="2743200"/>
            <a:ext cx="5303520" cy="548640"/>
          </a:xfrm>
          <a:prstGeom prst="roundRect">
            <a:avLst>
              <a:gd name="adj" fmla="val 13333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43000" y="27432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Conv2D + ReLU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1097280" y="3429000"/>
            <a:ext cx="5303520" cy="548640"/>
          </a:xfrm>
          <a:prstGeom prst="roundRect">
            <a:avLst>
              <a:gd name="adj" fmla="val 13333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43000" y="34290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MaxPooling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097280" y="4114800"/>
            <a:ext cx="5303520" cy="548640"/>
          </a:xfrm>
          <a:prstGeom prst="roundRect">
            <a:avLst>
              <a:gd name="adj" fmla="val 13333"/>
            </a:avLst>
          </a:prstGeom>
          <a:solidFill>
            <a:srgbClr val="67E3D4"/>
          </a:solidFill>
          <a:ln w="12700">
            <a:solidFill>
              <a:srgbClr val="67E3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43000" y="411480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(se repite...) → Flatten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097280" y="48463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Convierte la imagen en un vector de características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903720" y="2194560"/>
            <a:ext cx="4480560" cy="329184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9" name="Text 16"/>
          <p:cNvSpPr/>
          <p:nvPr/>
        </p:nvSpPr>
        <p:spPr>
          <a:xfrm>
            <a:off x="7040880" y="2286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 · Clasificación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7132320" y="274320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178040" y="27432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 + ReLU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7132320" y="342900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178040" y="34290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 + Softmax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132320" y="416052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 perceptrón multicapa decide la clase a partir del vector.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2743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Datos y entrenamiento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841248" y="411480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Aumentar los datos y construir el clasificador</a:t>
            </a:r>
            <a:endParaRPr lang="en-US" sz="1800" dirty="0"/>
          </a:p>
        </p:txBody>
      </p:sp>
      <p:pic>
        <p:nvPicPr>
          <p:cNvPr id="6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· DATOS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Aumentación de datos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37360"/>
            <a:ext cx="640080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Problema: a menudo no hay suficientes imágenes para entrenar bien.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aumentación crea imágenes nuevas aplicando pequeñas transformaciones a las que ya tenemos.</a:t>
            </a:r>
            <a:endParaRPr lang="en-US" sz="14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Rotaciones, giros (flip), zoom, desplazamientos, cambios de brillo…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 Keras: ImageDataGenerator o las capas de aumentación (RandomRotation, RandomZoom…).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Efecto: un conjunto de entrenamiento mayor y variado ⇒ mejor generalización.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772400" y="2743200"/>
            <a:ext cx="1005840" cy="1005840"/>
          </a:xfrm>
          <a:prstGeom prst="rect">
            <a:avLst/>
          </a:prstGeom>
          <a:solidFill>
            <a:srgbClr val="D9DDFF"/>
          </a:solidFill>
          <a:ln w="19050">
            <a:solidFill>
              <a:srgbClr val="000F9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</a:t>
            </a:r>
            <a:endParaRPr lang="en-US" sz="3000" dirty="0"/>
          </a:p>
        </p:txBody>
      </p:sp>
      <p:sp>
        <p:nvSpPr>
          <p:cNvPr id="11" name="Shape 8"/>
          <p:cNvSpPr/>
          <p:nvPr/>
        </p:nvSpPr>
        <p:spPr>
          <a:xfrm rot="900000">
            <a:off x="9006840" y="2743200"/>
            <a:ext cx="1005840" cy="1005840"/>
          </a:xfrm>
          <a:prstGeom prst="rect">
            <a:avLst/>
          </a:prstGeom>
          <a:solidFill>
            <a:srgbClr val="D9DDFF"/>
          </a:solidFill>
          <a:ln w="19050">
            <a:solidFill>
              <a:srgbClr val="000F9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 rot="900000">
            <a:off x="900684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</a:t>
            </a:r>
            <a:endParaRPr lang="en-US" sz="3000" dirty="0"/>
          </a:p>
        </p:txBody>
      </p:sp>
      <p:sp>
        <p:nvSpPr>
          <p:cNvPr id="13" name="Shape 10"/>
          <p:cNvSpPr/>
          <p:nvPr/>
        </p:nvSpPr>
        <p:spPr>
          <a:xfrm rot="-600000">
            <a:off x="10241280" y="2743200"/>
            <a:ext cx="1005840" cy="1005840"/>
          </a:xfrm>
          <a:prstGeom prst="rect">
            <a:avLst/>
          </a:prstGeom>
          <a:solidFill>
            <a:srgbClr val="D9DDFF"/>
          </a:solidFill>
          <a:ln w="19050">
            <a:solidFill>
              <a:srgbClr val="000F9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 rot="-600000">
            <a:off x="10241280" y="274320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758952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imagen → varias variantes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1.3 CNN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Construir la CNN: ejemplo (3 animales)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459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Objetivo: clasificar imágenes RGB de 96×96 en 3 clases (caballo, perro, gato).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85800" y="27432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27432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4× Conv2D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3×3 ReLU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697480" y="3246120"/>
            <a:ext cx="274320" cy="0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971800" y="27432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017520" y="27432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3× MaxPool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2×2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983480" y="3246120"/>
            <a:ext cx="274320" cy="0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5257800" y="27432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67E3D4"/>
          </a:solidFill>
          <a:ln w="12700">
            <a:solidFill>
              <a:srgbClr val="67E3D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03520" y="27432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Flatten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269480" y="3246120"/>
            <a:ext cx="274320" cy="0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543800" y="27432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89520" y="27432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 512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ReLU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555480" y="3246120"/>
            <a:ext cx="274320" cy="0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9829800" y="2743200"/>
            <a:ext cx="2011680" cy="1005840"/>
          </a:xfrm>
          <a:prstGeom prst="roundRect">
            <a:avLst>
              <a:gd name="adj" fmla="val 7273"/>
            </a:avLst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75520" y="2743200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Dense 3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Softmax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Compilar: optimizador Adam · pérdida categorical crossentropy · métrica accuracy.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868680" y="461772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Las capas de pooling no tienen coeficientes que entrenar.</a:t>
            </a:r>
            <a:endParaRPr lang="en-US" sz="13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3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padding 'same' conserva el tamaño; 'valid' (por defecto) lo reduce un poco.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1.3 CNN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Entrenar, evaluar y guardar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2011680"/>
            <a:ext cx="685800" cy="68580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20116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783080" y="201168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Entrenar (fit)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5852160" y="201168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 los lotes de imágenes (aumentadas), durante varias épocas.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1207008" y="2697480"/>
            <a:ext cx="0" cy="27432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" y="2971800"/>
            <a:ext cx="685800" cy="68580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14" name="Text 11"/>
          <p:cNvSpPr/>
          <p:nvPr/>
        </p:nvSpPr>
        <p:spPr>
          <a:xfrm>
            <a:off x="868680" y="29718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783080" y="297180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Evaluar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5852160" y="297180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Accuracy y matriz de confusión sobre imágenes no vistas.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207008" y="3657600"/>
            <a:ext cx="0" cy="27432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680" y="3931920"/>
            <a:ext cx="685800" cy="685800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19" name="Text 16"/>
          <p:cNvSpPr/>
          <p:nvPr/>
        </p:nvSpPr>
        <p:spPr>
          <a:xfrm>
            <a:off x="868680" y="39319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783080" y="393192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Inferencia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5852160" y="393192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Predecir la clase de una imagen nueva (la de mayor probabilidad).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1207008" y="4617720"/>
            <a:ext cx="0" cy="27432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68680" y="4892040"/>
            <a:ext cx="685800" cy="685800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24" name="Text 21"/>
          <p:cNvSpPr/>
          <p:nvPr/>
        </p:nvSpPr>
        <p:spPr>
          <a:xfrm>
            <a:off x="868680" y="48920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2"/>
          <p:cNvSpPr/>
          <p:nvPr/>
        </p:nvSpPr>
        <p:spPr>
          <a:xfrm>
            <a:off x="1783080" y="4892040"/>
            <a:ext cx="4023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Guardar el modelo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5852160" y="4892040"/>
            <a:ext cx="5669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Almacenarlo (.h5 / SavedModel) para reutilizarlo o desplegarlo.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 · UNIDAD 1 (II)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Resumen de la sesión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Flatten pasa de los mapas de características (matriz) a un vector para las capas densas.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Batch normalization acelera y estabiliza el entrenamiento.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CNN = extracción (conv + pooling + flatten) + clasificación (capas densas).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aumentación de datos amplía el conjunto y mejora la generalización.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compila con Adam + categorical crossentropy, se entrena, se evalúa y se guarda.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 · UNIDAD 1 (II)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Práctica y próxima clase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3840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28016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Ahora: notebooks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01 · Una CNN completa y sus mapas de características (qué ve la red).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02 · Aumentación de datos y batch normalization.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Ábrelos en Colab y ejecuta cada celda.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38404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28016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Próxima clase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6974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3 · Unidad 2: Redes de neuronas residuales.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Entrenar redes muy profundas.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Conexiones residuales y transfer learning.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64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280160"/>
            <a:ext cx="3840480" cy="3840480"/>
          </a:xfrm>
          <a:prstGeom prst="ellipse">
            <a:avLst/>
          </a:prstGeom>
          <a:solidFill>
            <a:srgbClr val="FF9BA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Nos vemos en la próxima videoclase.</a:t>
            </a:r>
            <a:endParaRPr lang="en-US" sz="2000" dirty="0"/>
          </a:p>
        </p:txBody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6263640"/>
            <a:ext cx="132588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Redes convolucionales II</dc:title>
  <dc:subject>PptxGenJS Presentation</dc:subject>
  <dc:creator>Ignacio López</dc:creator>
  <cp:lastModifiedBy>Ignacio López</cp:lastModifiedBy>
  <cp:revision>1</cp:revision>
  <dcterms:created xsi:type="dcterms:W3CDTF">2026-07-01T21:58:10Z</dcterms:created>
  <dcterms:modified xsi:type="dcterms:W3CDTF">2026-07-01T21:58:10Z</dcterms:modified>
</cp:coreProperties>
</file>